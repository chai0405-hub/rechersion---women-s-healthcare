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643373E-12D1-1895-727C-22C11D8C26EE}">
          <p14:sldIdLst>
            <p14:sldId id="256"/>
          </p14:sldIdLst>
        </p14:section>
        <p14:section name="Problem" id="{8B597160-8C4A-8DD2-C219-942D0F008231}">
          <p14:sldIdLst>
            <p14:sldId id="257"/>
          </p14:sldIdLst>
        </p14:section>
        <p14:section name="Proposed Idea" id="{95A70F85-192F-E244-BA1B-A2475805A785}">
          <p14:sldIdLst>
            <p14:sldId id="258"/>
            <p14:sldId id="259"/>
            <p14:sldId id="260"/>
          </p14:sldIdLst>
        </p14:section>
        <p14:section name="Technical Approach" id="{876A1BD3-48EE-5F52-391E-1E786543A64C}">
          <p14:sldIdLst>
            <p14:sldId id="261"/>
            <p14:sldId id="262"/>
          </p14:sldIdLst>
        </p14:section>
        <p14:section name="System Architecture" id="{31BD7A25-BB74-DC89-A16B-1399EB83DF72}">
          <p14:sldIdLst>
            <p14:sldId id="263"/>
          </p14:sldIdLst>
        </p14:section>
        <p14:section name="Feasibility" id="{22504C62-F4F6-C967-1794-7FEB9CD11B15}">
          <p14:sldIdLst>
            <p14:sldId id="264"/>
          </p14:sldIdLst>
        </p14:section>
        <p14:section name="Impact" id="{D9A8AD78-EFDD-B01A-5139-D72D1C9A74BF}">
          <p14:sldIdLst>
            <p14:sldId id="265"/>
            <p14:sldId id="266"/>
          </p14:sldIdLst>
        </p14:section>
        <p14:section name="References" id="{75F73800-F9DA-A5A0-29D3-422CF0B1DEB4}">
          <p14:sldIdLst>
            <p14:sldId id="267"/>
          </p14:sldIdLst>
        </p14:section>
        <p14:section name="Close" id="{986CFD2C-42EB-C804-3FEE-0C7FD81168A5}">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4971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presenting Sakhi Health, our answer to Problem Statement 1, Women's Healthcare. Sakhi means 'a trusted friend' - the app helps a woman notice what her body has been telling her, and walk into a doctor's office prepared.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frame the problem. WHO estimates that 10 to 13 percent of women of reproductive age have PCOS and up to 70 percent do not know it. For endometriosis, WHO says diagnosis takes 4 to 12 years on average. In India, NFHS-5 found 57 percent of women aged 15 to 49 are anaemic. The gap is simple: doctors look for patterns over months, but patients remember the last few days. Sources are on the references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Sakhi means a trusted friend. The idea works in four steps. One: the app first asks the basics a doctor would ask - date of birth, when the last period started, and any missed periods in the last six months. If she does not remember, she can say so and nothing is guessed. Two: a daily log that takes under 30 seconds, with voice input in English and Kannada. Three: insights counted from day one of her cycle and read for her age. Four: a one-page doctor report.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set Sakhi Health apart. It reads age and cycle, so a teenager or a woman in her forties is not wrongly told she may have PCOS. It has voice input in Kannada and English. The rules can be inspected by anyone. And it is private by design - no server, no tracking.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from the working app, not mock-ups. Insights appear from day one using the About you and last-three-months answers; a clearly labelled sample-data button fills 90 days for demos.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approach is personalised and rule-based. Inputs are date of birth, the age at the first period, conditions a doctor has already diagnosed, family history, last period start date, missed months, and the daily log. A late or early first period and a prior diagnosis appear as extra signs on the relevant cards, and every flagged card has a plain-words summary. The cycle engine works out the cycle day and phase, cycle lengths from every logged period start, and flags long gaps. Age rules stop teenagers and women over 45 from being flagged for PCOS on irregular cycles alone, and add a perimenopause check from 40. Outputs are pattern cards that show every matched sign, an early-read note when little data exists, and the doctor report. We chose rules over machine learning on purpose: there is no labelled medical dataset, and an opaque model guessing at health conditions would be unsafe.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rules. For each pattern the app shows which signs matched, so a woman and her doctor can check the logic. They are informed by the Rotterdam criteria and the international PCOS guideline, NICE guidance on heavy menstrual bleeding, the ESHRE endometriosis guideline, ACOG guidance on adolescent cycles and the STRAW plus 10 staging for the menopause transition. We are honest that these thresholds are heuristics and not clinically validated - the next step is clinician review. The app never diagnoses.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it is a static web app. The user opens it in any browser. The presentation layer has four screens in two languages. The logic layer holds the rule engine, the cycle calculations, voice keyword matching and the local accounts, which use the Web Crypto API with salted PBKDF2 hashing. Data is stored per account in the browser, and nothing is sent to a server. Voice uses the browser Web Speech API. There are 84 automated tests running in continuous integration, and an axe-core audit found zero accessibility violations across seven screens in both languages. Honest limit: accounts are device-local, and the next step is Firebase or Supabase for sync.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has three parts. It is already built and working. It costs almost nothing to run because it is a static site. And it works on any phone browser. We have also listed the real risks and how we would handle each: the rules need clinical validation, accounts are device-local today, speech accuracy in Kannada will vary so users can always correct the chips, and health data stays on the device.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benefits reach three groups. Women notice patterns sooner and arrive at the clinic prepared, in their own language and without giving up their data. Doctors get a structured history instead of a vague recollection. And for public health, it nudges earlier check-ups for common conditions that are often found late. We make no claim of clinical outcomes yet; that needs validation.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everything on the left is built and working. Next we would add a lab-report explainer, an installable offline app and a specialist finder. Then a health-worker mode so ASHA workers can support community screening, and more conditions. Finally clinician-validated rules and secure sync across devices.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behind the statistics and the rules. We also acknowledge that Claude helped with code and drafting, and that the team chose the problem, scope and design.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Sakhi Health: her symptoms, understood, and her doctor, prepared. Thank you. The code, live demo and demo video are linked in our submission.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4754880"/>
            <a:ext cx="4572000" cy="274320"/>
          </a:xfrm>
          <a:prstGeom prst="rect">
            <a:avLst/>
          </a:prstGeom>
          <a:noFill/>
          <a:ln/>
        </p:spPr>
        <p:txBody>
          <a:bodyPr wrap="square" lIns="0" tIns="0" rIns="0" bIns="0" rtlCol="0" anchor="ctr"/>
          <a:lstStyle/>
          <a:p>
            <a:pPr marL="0" indent="0">
              <a:buNone/>
            </a:pPr>
            <a:r>
              <a:rPr lang="en-US" sz="1000" dirty="0">
                <a:solidFill>
                  <a:schemeClr val="accent6"/>
                </a:solidFill>
              </a:rPr>
              <a:t>Sakhi Health  ·  recHERsion'26</a:t>
            </a:r>
            <a:endParaRPr lang="en-US" sz="1000" dirty="0"/>
          </a:p>
        </p:txBody>
      </p:sp>
      <p:sp>
        <p:nvSpPr>
          <p:cNvPr id="3" name="Text 1"/>
          <p:cNvSpPr>
            <a:spLocks noGrp="1"/>
          </p:cNvSpPr>
          <p:nvPr>
            <p:ph type="title" idx="101" hasCustomPrompt="1"/>
          </p:nvPr>
        </p:nvSpPr>
        <p:spPr>
          <a:xfrm>
            <a:off x="457200" y="320040"/>
            <a:ext cx="8229600" cy="685800"/>
          </a:xfrm>
          <a:prstGeom prst="rect">
            <a:avLst/>
          </a:prstGeom>
          <a:noFill/>
          <a:ln/>
        </p:spPr>
        <p:txBody>
          <a:bodyPr wrap="square" rtlCol="0"/>
          <a:lstStyle>
            <a:lvl1pPr marL="0" indent="0">
              <a:buNone/>
              <a:defRPr lang="en-US" sz="3200" b="1" dirty="0">
                <a:solidFill>
                  <a:schemeClr val="tx2"/>
                </a:solidFill>
              </a:defRPr>
            </a:lvl1pPr>
          </a:lstStyle>
          <a:p>
            <a:pPr marL="0" indent="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868680"/>
            <a:ext cx="5394960" cy="13716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868680"/>
            <a:ext cx="5394960" cy="1371600"/>
          </a:xfrm>
          <a:prstGeom prst="rect">
            <a:avLst/>
          </a:prstGeom>
          <a:noFill/>
          <a:ln/>
        </p:spPr>
        <p:txBody>
          <a:bodyPr wrap="square" lIns="0" tIns="0" rIns="0" bIns="0" rtlCol="0" anchor="ctr"/>
          <a:lstStyle/>
          <a:p>
            <a:pPr marL="0" indent="0" algn="l">
              <a:buNone/>
            </a:pPr>
            <a:r>
              <a:rPr lang="en-US" sz="4000" b="1" dirty="0">
                <a:solidFill>
                  <a:schemeClr val="bg1"/>
                </a:solidFill>
              </a:rPr>
              <a:t>Sakhi Health · ಸಖಿ</a:t>
            </a:r>
            <a:endParaRPr lang="en-US" sz="4000" dirty="0"/>
          </a:p>
        </p:txBody>
      </p:sp>
      <p:sp>
        <p:nvSpPr>
          <p:cNvPr id="3" name="Tagline"/>
          <p:cNvSpPr txBox="1"/>
          <p:nvPr/>
        </p:nvSpPr>
        <p:spPr>
          <a:xfrm>
            <a:off x="548640" y="2011680"/>
            <a:ext cx="5394960" cy="822960"/>
          </a:xfrm>
          <a:prstGeom prst="rect">
            <a:avLst/>
          </a:prstGeom>
          <a:noFill/>
          <a:ln/>
        </p:spPr>
        <p:txBody>
          <a:bodyPr wrap="square" lIns="0" tIns="0" rIns="0" bIns="0" rtlCol="0" anchor="t"/>
          <a:lstStyle/>
          <a:p>
            <a:pPr marL="0" indent="0">
              <a:buNone/>
            </a:pPr>
            <a:r>
              <a:rPr lang="en-US" sz="2000" dirty="0">
                <a:solidFill>
                  <a:schemeClr val="bg2"/>
                </a:solidFill>
              </a:rPr>
              <a:t>Track symptoms. Spot patterns. Talk to your doctor with confidence.</a:t>
            </a:r>
            <a:endParaRPr lang="en-US" sz="2000" dirty="0"/>
          </a:p>
        </p:txBody>
      </p:sp>
      <p:sp>
        <p:nvSpPr>
          <p:cNvPr id="4" name="Event"/>
          <p:cNvSpPr txBox="1"/>
          <p:nvPr/>
        </p:nvSpPr>
        <p:spPr>
          <a:xfrm>
            <a:off x="548640" y="3247595"/>
            <a:ext cx="5394960" cy="320040"/>
          </a:xfrm>
          <a:prstGeom prst="rect">
            <a:avLst/>
          </a:prstGeom>
          <a:noFill/>
          <a:ln/>
        </p:spPr>
        <p:txBody>
          <a:bodyPr wrap="square" lIns="0" tIns="0" rIns="0" bIns="0" rtlCol="0" anchor="t"/>
          <a:lstStyle/>
          <a:p>
            <a:pPr marL="0" indent="0">
              <a:buNone/>
            </a:pPr>
            <a:r>
              <a:rPr lang="en-US" sz="1600" b="1" dirty="0">
                <a:solidFill>
                  <a:schemeClr val="accent2"/>
                </a:solidFill>
              </a:rPr>
              <a:t>recHERsion'26  ·  Problem Statement 1: Women's Healthcare</a:t>
            </a:r>
            <a:endParaRPr lang="en-US" sz="1600" dirty="0"/>
          </a:p>
        </p:txBody>
      </p:sp>
      <p:sp>
        <p:nvSpPr>
          <p:cNvPr id="5" name="Team leader"/>
          <p:cNvSpPr txBox="1"/>
          <p:nvPr/>
        </p:nvSpPr>
        <p:spPr>
          <a:xfrm>
            <a:off x="548640" y="3931920"/>
            <a:ext cx="5394960" cy="320040"/>
          </a:xfrm>
          <a:prstGeom prst="rect">
            <a:avLst/>
          </a:prstGeom>
          <a:noFill/>
          <a:ln/>
        </p:spPr>
        <p:txBody>
          <a:bodyPr wrap="square" lIns="0" tIns="0" rIns="0" bIns="0" rtlCol="0" anchor="t"/>
          <a:lstStyle/>
          <a:p>
            <a:pPr marL="0" indent="0">
              <a:buNone/>
            </a:pPr>
            <a:r>
              <a:rPr lang="en-US" sz="1400" dirty="0">
                <a:solidFill>
                  <a:schemeClr val="bg2"/>
                </a:solidFill>
              </a:rPr>
              <a:t>Team Leader: Chaitanya Pawar</a:t>
            </a:r>
          </a:p>
          <a:p>
            <a:pPr marL="0" indent="0">
              <a:buNone/>
            </a:pPr>
            <a:r>
              <a:rPr lang="en-US" sz="1400" dirty="0">
                <a:solidFill>
                  <a:schemeClr val="bg2"/>
                </a:solidFill>
              </a:rPr>
              <a:t>Team Mate: Anusha </a:t>
            </a:r>
            <a:r>
              <a:rPr lang="en-US" sz="1400" dirty="0" err="1">
                <a:solidFill>
                  <a:schemeClr val="bg2"/>
                </a:solidFill>
              </a:rPr>
              <a:t>Jidage</a:t>
            </a:r>
            <a:endParaRPr lang="en-US" sz="1400" dirty="0"/>
          </a:p>
        </p:txBody>
      </p:sp>
      <p:sp>
        <p:nvSpPr>
          <p:cNvPr id="6" name="App screenshot: insights frame"/>
          <p:cNvSpPr/>
          <p:nvPr/>
        </p:nvSpPr>
        <p:spPr>
          <a:xfrm>
            <a:off x="6665976" y="630936"/>
            <a:ext cx="1842104" cy="3858768"/>
          </a:xfrm>
          <a:prstGeom prst="roundRect">
            <a:avLst>
              <a:gd name="adj" fmla="val 4964"/>
            </a:avLst>
          </a:prstGeom>
          <a:solidFill>
            <a:schemeClr val="bg1"/>
          </a:solidFill>
          <a:ln w="19050">
            <a:solidFill>
              <a:schemeClr val="accent5"/>
            </a:solidFill>
            <a:prstDash val="solid"/>
          </a:ln>
        </p:spPr>
      </p:sp>
      <p:pic>
        <p:nvPicPr>
          <p:cNvPr id="7" name="App screenshot: insights" descr="App screenshot: insights"/>
          <p:cNvPicPr>
            <a:picLocks noChangeAspect="1"/>
          </p:cNvPicPr>
          <p:nvPr/>
        </p:nvPicPr>
        <p:blipFill>
          <a:blip r:embed="rId3"/>
          <a:stretch>
            <a:fillRect/>
          </a:stretch>
        </p:blipFill>
        <p:spPr>
          <a:xfrm>
            <a:off x="6720840" y="685800"/>
            <a:ext cx="1732376" cy="3749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The problem: answers come too late</a:t>
            </a:r>
            <a:endParaRPr lang="en-US" sz="3200" dirty="0"/>
          </a:p>
        </p:txBody>
      </p:sp>
      <p:sp>
        <p:nvSpPr>
          <p:cNvPr id="3" name="Stat card 1"/>
          <p:cNvSpPr/>
          <p:nvPr/>
        </p:nvSpPr>
        <p:spPr>
          <a:xfrm>
            <a:off x="457200" y="1188720"/>
            <a:ext cx="2560320" cy="2377440"/>
          </a:xfrm>
          <a:prstGeom prst="roundRect">
            <a:avLst>
              <a:gd name="adj" fmla="val 4615"/>
            </a:avLst>
          </a:prstGeom>
          <a:solidFill>
            <a:schemeClr val="bg2"/>
          </a:solidFill>
          <a:ln w="12700">
            <a:solidFill>
              <a:schemeClr val="accent5"/>
            </a:solidFill>
            <a:prstDash val="solid"/>
          </a:ln>
        </p:spPr>
      </p:sp>
      <p:sp>
        <p:nvSpPr>
          <p:cNvPr id="4" name="Stat 1"/>
          <p:cNvSpPr txBox="1"/>
          <p:nvPr/>
        </p:nvSpPr>
        <p:spPr>
          <a:xfrm>
            <a:off x="640080" y="1325880"/>
            <a:ext cx="2194560" cy="777240"/>
          </a:xfrm>
          <a:prstGeom prst="rect">
            <a:avLst/>
          </a:prstGeom>
          <a:noFill/>
          <a:ln/>
        </p:spPr>
        <p:txBody>
          <a:bodyPr wrap="square" lIns="0" tIns="0" rIns="0" bIns="0" rtlCol="0" anchor="ctr"/>
          <a:lstStyle/>
          <a:p>
            <a:pPr marL="0" indent="0">
              <a:buNone/>
            </a:pPr>
            <a:r>
              <a:rPr lang="en-US" sz="3800" b="1" dirty="0">
                <a:solidFill>
                  <a:schemeClr val="accent1"/>
                </a:solidFill>
                <a:latin typeface="Cambria" pitchFamily="34" charset="0"/>
                <a:ea typeface="Cambria" pitchFamily="34" charset="-122"/>
                <a:cs typeface="Cambria" pitchFamily="34" charset="-120"/>
              </a:rPr>
              <a:t>10–13%</a:t>
            </a:r>
            <a:endParaRPr lang="en-US" sz="3800" dirty="0"/>
          </a:p>
        </p:txBody>
      </p:sp>
      <p:sp>
        <p:nvSpPr>
          <p:cNvPr id="5" name="Stat label 1"/>
          <p:cNvSpPr txBox="1"/>
          <p:nvPr/>
        </p:nvSpPr>
        <p:spPr>
          <a:xfrm>
            <a:off x="640080" y="2194560"/>
            <a:ext cx="2194560" cy="1280160"/>
          </a:xfrm>
          <a:prstGeom prst="rect">
            <a:avLst/>
          </a:prstGeom>
          <a:noFill/>
          <a:ln/>
        </p:spPr>
        <p:txBody>
          <a:bodyPr wrap="square" lIns="0" tIns="0" rIns="0" bIns="0" rtlCol="0" anchor="t"/>
          <a:lstStyle/>
          <a:p>
            <a:pPr marL="0" indent="0">
              <a:buNone/>
            </a:pPr>
            <a:r>
              <a:rPr lang="en-US" sz="1500" dirty="0">
                <a:solidFill>
                  <a:schemeClr val="tx1"/>
                </a:solidFill>
              </a:rPr>
              <a:t>of women of reproductive age have PCOS, and up to 70% of them are undiagnosed</a:t>
            </a:r>
            <a:endParaRPr lang="en-US" sz="1500" dirty="0"/>
          </a:p>
        </p:txBody>
      </p:sp>
      <p:sp>
        <p:nvSpPr>
          <p:cNvPr id="6" name="Stat card 2"/>
          <p:cNvSpPr/>
          <p:nvPr/>
        </p:nvSpPr>
        <p:spPr>
          <a:xfrm>
            <a:off x="3291840" y="1188720"/>
            <a:ext cx="2560320" cy="2377440"/>
          </a:xfrm>
          <a:prstGeom prst="roundRect">
            <a:avLst>
              <a:gd name="adj" fmla="val 4615"/>
            </a:avLst>
          </a:prstGeom>
          <a:solidFill>
            <a:schemeClr val="bg2"/>
          </a:solidFill>
          <a:ln w="12700">
            <a:solidFill>
              <a:schemeClr val="accent5"/>
            </a:solidFill>
            <a:prstDash val="solid"/>
          </a:ln>
        </p:spPr>
      </p:sp>
      <p:sp>
        <p:nvSpPr>
          <p:cNvPr id="7" name="Stat 2"/>
          <p:cNvSpPr txBox="1"/>
          <p:nvPr/>
        </p:nvSpPr>
        <p:spPr>
          <a:xfrm>
            <a:off x="3474720" y="1325880"/>
            <a:ext cx="2194560" cy="777240"/>
          </a:xfrm>
          <a:prstGeom prst="rect">
            <a:avLst/>
          </a:prstGeom>
          <a:noFill/>
          <a:ln/>
        </p:spPr>
        <p:txBody>
          <a:bodyPr wrap="square" lIns="0" tIns="0" rIns="0" bIns="0" rtlCol="0" anchor="ctr"/>
          <a:lstStyle/>
          <a:p>
            <a:pPr marL="0" indent="0">
              <a:buNone/>
            </a:pPr>
            <a:r>
              <a:rPr lang="en-US" sz="3800" b="1" dirty="0">
                <a:solidFill>
                  <a:schemeClr val="accent1"/>
                </a:solidFill>
                <a:latin typeface="Cambria" pitchFamily="34" charset="0"/>
                <a:ea typeface="Cambria" pitchFamily="34" charset="-122"/>
                <a:cs typeface="Cambria" pitchFamily="34" charset="-120"/>
              </a:rPr>
              <a:t>4–12 yrs</a:t>
            </a:r>
            <a:endParaRPr lang="en-US" sz="3800" dirty="0"/>
          </a:p>
        </p:txBody>
      </p:sp>
      <p:sp>
        <p:nvSpPr>
          <p:cNvPr id="8" name="Stat label 2"/>
          <p:cNvSpPr txBox="1"/>
          <p:nvPr/>
        </p:nvSpPr>
        <p:spPr>
          <a:xfrm>
            <a:off x="3474720" y="2194560"/>
            <a:ext cx="2194560" cy="1280160"/>
          </a:xfrm>
          <a:prstGeom prst="rect">
            <a:avLst/>
          </a:prstGeom>
          <a:noFill/>
          <a:ln/>
        </p:spPr>
        <p:txBody>
          <a:bodyPr wrap="square" lIns="0" tIns="0" rIns="0" bIns="0" rtlCol="0" anchor="t"/>
          <a:lstStyle/>
          <a:p>
            <a:pPr marL="0" indent="0">
              <a:buNone/>
            </a:pPr>
            <a:r>
              <a:rPr lang="en-US" sz="1500" dirty="0">
                <a:solidFill>
                  <a:schemeClr val="tx1"/>
                </a:solidFill>
              </a:rPr>
              <a:t>average time to diagnose endometriosis, which affects about 1 in 10 women</a:t>
            </a:r>
            <a:endParaRPr lang="en-US" sz="1500" dirty="0"/>
          </a:p>
        </p:txBody>
      </p:sp>
      <p:sp>
        <p:nvSpPr>
          <p:cNvPr id="9" name="Stat card 3"/>
          <p:cNvSpPr/>
          <p:nvPr/>
        </p:nvSpPr>
        <p:spPr>
          <a:xfrm>
            <a:off x="6126480" y="1188720"/>
            <a:ext cx="2560320" cy="2377440"/>
          </a:xfrm>
          <a:prstGeom prst="roundRect">
            <a:avLst>
              <a:gd name="adj" fmla="val 4615"/>
            </a:avLst>
          </a:prstGeom>
          <a:solidFill>
            <a:schemeClr val="bg2"/>
          </a:solidFill>
          <a:ln w="12700">
            <a:solidFill>
              <a:schemeClr val="accent5"/>
            </a:solidFill>
            <a:prstDash val="solid"/>
          </a:ln>
        </p:spPr>
      </p:sp>
      <p:sp>
        <p:nvSpPr>
          <p:cNvPr id="10" name="Stat 3"/>
          <p:cNvSpPr txBox="1"/>
          <p:nvPr/>
        </p:nvSpPr>
        <p:spPr>
          <a:xfrm>
            <a:off x="6309360" y="1325880"/>
            <a:ext cx="2194560" cy="777240"/>
          </a:xfrm>
          <a:prstGeom prst="rect">
            <a:avLst/>
          </a:prstGeom>
          <a:noFill/>
          <a:ln/>
        </p:spPr>
        <p:txBody>
          <a:bodyPr wrap="square" lIns="0" tIns="0" rIns="0" bIns="0" rtlCol="0" anchor="ctr"/>
          <a:lstStyle/>
          <a:p>
            <a:pPr marL="0" indent="0">
              <a:buNone/>
            </a:pPr>
            <a:r>
              <a:rPr lang="en-US" sz="3800" b="1" dirty="0">
                <a:solidFill>
                  <a:schemeClr val="accent1"/>
                </a:solidFill>
                <a:latin typeface="Cambria" pitchFamily="34" charset="0"/>
                <a:ea typeface="Cambria" pitchFamily="34" charset="-122"/>
                <a:cs typeface="Cambria" pitchFamily="34" charset="-120"/>
              </a:rPr>
              <a:t>57%</a:t>
            </a:r>
            <a:endParaRPr lang="en-US" sz="3800" dirty="0"/>
          </a:p>
        </p:txBody>
      </p:sp>
      <p:sp>
        <p:nvSpPr>
          <p:cNvPr id="11" name="Stat label 3"/>
          <p:cNvSpPr txBox="1"/>
          <p:nvPr/>
        </p:nvSpPr>
        <p:spPr>
          <a:xfrm>
            <a:off x="6309360" y="2194560"/>
            <a:ext cx="2194560" cy="1280160"/>
          </a:xfrm>
          <a:prstGeom prst="rect">
            <a:avLst/>
          </a:prstGeom>
          <a:noFill/>
          <a:ln/>
        </p:spPr>
        <p:txBody>
          <a:bodyPr wrap="square" lIns="0" tIns="0" rIns="0" bIns="0" rtlCol="0" anchor="t"/>
          <a:lstStyle/>
          <a:p>
            <a:pPr marL="0" indent="0">
              <a:buNone/>
            </a:pPr>
            <a:r>
              <a:rPr lang="en-US" sz="1500" dirty="0">
                <a:solidFill>
                  <a:schemeClr val="tx1"/>
                </a:solidFill>
              </a:rPr>
              <a:t>of Indian women aged 15 to 49 are anaemic</a:t>
            </a:r>
            <a:endParaRPr lang="en-US" sz="1500" dirty="0"/>
          </a:p>
          <a:p>
            <a:pPr marL="0" indent="0">
              <a:buNone/>
            </a:pPr>
            <a:r>
              <a:rPr lang="en-US" sz="1500" dirty="0">
                <a:solidFill>
                  <a:schemeClr val="tx1"/>
                </a:solidFill>
              </a:rPr>
              <a:t>(NFHS-5, 2019–21)</a:t>
            </a:r>
            <a:endParaRPr lang="en-US" sz="1500" dirty="0"/>
          </a:p>
        </p:txBody>
      </p:sp>
      <p:sp>
        <p:nvSpPr>
          <p:cNvPr id="12" name="Gap banner"/>
          <p:cNvSpPr/>
          <p:nvPr/>
        </p:nvSpPr>
        <p:spPr>
          <a:xfrm>
            <a:off x="457200" y="3749040"/>
            <a:ext cx="8229600" cy="685800"/>
          </a:xfrm>
          <a:prstGeom prst="roundRect">
            <a:avLst>
              <a:gd name="adj" fmla="val 13333"/>
            </a:avLst>
          </a:prstGeom>
          <a:solidFill>
            <a:schemeClr val="accent1"/>
          </a:solidFill>
          <a:ln w="12700">
            <a:solidFill>
              <a:schemeClr val="accent1"/>
            </a:solidFill>
            <a:prstDash val="solid"/>
          </a:ln>
        </p:spPr>
      </p:sp>
      <p:sp>
        <p:nvSpPr>
          <p:cNvPr id="13" name="Gap text"/>
          <p:cNvSpPr txBox="1"/>
          <p:nvPr/>
        </p:nvSpPr>
        <p:spPr>
          <a:xfrm>
            <a:off x="640080" y="3749040"/>
            <a:ext cx="7863840" cy="685800"/>
          </a:xfrm>
          <a:prstGeom prst="rect">
            <a:avLst/>
          </a:prstGeom>
          <a:noFill/>
          <a:ln/>
        </p:spPr>
        <p:txBody>
          <a:bodyPr wrap="square" lIns="0" tIns="0" rIns="0" bIns="0" rtlCol="0" anchor="ctr"/>
          <a:lstStyle/>
          <a:p>
            <a:pPr marL="0" indent="0" algn="ctr">
              <a:buNone/>
            </a:pPr>
            <a:r>
              <a:rPr lang="en-US" sz="1800" b="1" dirty="0">
                <a:solidFill>
                  <a:schemeClr val="bg1"/>
                </a:solidFill>
                <a:latin typeface="Cambria" pitchFamily="34" charset="0"/>
                <a:ea typeface="Cambria" pitchFamily="34" charset="-122"/>
                <a:cs typeface="Cambria" pitchFamily="34" charset="-120"/>
              </a:rPr>
              <a:t>Doctors look for patterns over months. Patients remember the last few days.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Proposed idea: Sakhi Health</a:t>
            </a:r>
            <a:endParaRPr lang="en-US" sz="3200" dirty="0"/>
          </a:p>
        </p:txBody>
      </p:sp>
      <p:sp>
        <p:nvSpPr>
          <p:cNvPr id="3" name="Idea statement"/>
          <p:cNvSpPr txBox="1"/>
          <p:nvPr/>
        </p:nvSpPr>
        <p:spPr>
          <a:xfrm>
            <a:off x="457200" y="1005840"/>
            <a:ext cx="8229600" cy="548640"/>
          </a:xfrm>
          <a:prstGeom prst="rect">
            <a:avLst/>
          </a:prstGeom>
          <a:noFill/>
          <a:ln/>
        </p:spPr>
        <p:txBody>
          <a:bodyPr wrap="square" lIns="0" tIns="0" rIns="0" bIns="0" rtlCol="0" anchor="t"/>
          <a:lstStyle/>
          <a:p>
            <a:pPr marL="0" indent="0">
              <a:buNone/>
            </a:pPr>
            <a:r>
              <a:rPr lang="en-US" sz="1600" i="1" dirty="0">
                <a:solidFill>
                  <a:schemeClr val="accent6"/>
                </a:solidFill>
              </a:rPr>
              <a:t>A private, bilingual symptom tracker that turns daily logs into pattern insights and a doctor-ready report.</a:t>
            </a:r>
            <a:endParaRPr lang="en-US" sz="1600" dirty="0"/>
          </a:p>
        </p:txBody>
      </p:sp>
      <p:sp>
        <p:nvSpPr>
          <p:cNvPr id="4" name="Step card 1"/>
          <p:cNvSpPr/>
          <p:nvPr/>
        </p:nvSpPr>
        <p:spPr>
          <a:xfrm>
            <a:off x="457200" y="1691640"/>
            <a:ext cx="1920240" cy="2743200"/>
          </a:xfrm>
          <a:prstGeom prst="roundRect">
            <a:avLst>
              <a:gd name="adj" fmla="val 5714"/>
            </a:avLst>
          </a:prstGeom>
          <a:solidFill>
            <a:schemeClr val="bg2"/>
          </a:solidFill>
          <a:ln w="12700">
            <a:solidFill>
              <a:schemeClr val="accent5"/>
            </a:solidFill>
            <a:prstDash val="solid"/>
          </a:ln>
        </p:spPr>
      </p:sp>
      <p:sp>
        <p:nvSpPr>
          <p:cNvPr id="5" name="Step 1 circle"/>
          <p:cNvSpPr/>
          <p:nvPr/>
        </p:nvSpPr>
        <p:spPr>
          <a:xfrm>
            <a:off x="640080" y="1874520"/>
            <a:ext cx="640080" cy="640080"/>
          </a:xfrm>
          <a:prstGeom prst="ellipse">
            <a:avLst/>
          </a:prstGeom>
          <a:solidFill>
            <a:schemeClr val="accent1"/>
          </a:solidFill>
          <a:ln w="12700">
            <a:solidFill>
              <a:schemeClr val="accent1"/>
            </a:solidFill>
            <a:prstDash val="solid"/>
          </a:ln>
        </p:spPr>
      </p:sp>
      <p:pic>
        <p:nvPicPr>
          <p:cNvPr id="6" name="Step 1 icon" descr="Step 1"/>
          <p:cNvPicPr>
            <a:picLocks noChangeAspect="1"/>
          </p:cNvPicPr>
          <p:nvPr/>
        </p:nvPicPr>
        <p:blipFill>
          <a:blip r:embed="rId3"/>
          <a:stretch>
            <a:fillRect/>
          </a:stretch>
        </p:blipFill>
        <p:spPr>
          <a:xfrm>
            <a:off x="800100" y="2034540"/>
            <a:ext cx="320040" cy="320040"/>
          </a:xfrm>
          <a:prstGeom prst="rect">
            <a:avLst/>
          </a:prstGeom>
        </p:spPr>
      </p:pic>
      <p:sp>
        <p:nvSpPr>
          <p:cNvPr id="7" name="Step title 1"/>
          <p:cNvSpPr txBox="1"/>
          <p:nvPr/>
        </p:nvSpPr>
        <p:spPr>
          <a:xfrm>
            <a:off x="640080" y="2651760"/>
            <a:ext cx="1600200" cy="365760"/>
          </a:xfrm>
          <a:prstGeom prst="rect">
            <a:avLst/>
          </a:prstGeom>
          <a:noFill/>
          <a:ln/>
        </p:spPr>
        <p:txBody>
          <a:bodyPr wrap="square" lIns="0" tIns="0" rIns="0" bIns="0" rtlCol="0" anchor="t"/>
          <a:lstStyle/>
          <a:p>
            <a:pPr marL="0" indent="0">
              <a:buNone/>
            </a:pPr>
            <a:r>
              <a:rPr lang="en-US" sz="1700" b="1" dirty="0">
                <a:solidFill>
                  <a:schemeClr val="tx2"/>
                </a:solidFill>
              </a:rPr>
              <a:t>1  Know her</a:t>
            </a:r>
            <a:endParaRPr lang="en-US" sz="1700" dirty="0"/>
          </a:p>
        </p:txBody>
      </p:sp>
      <p:sp>
        <p:nvSpPr>
          <p:cNvPr id="8" name="Step text 1"/>
          <p:cNvSpPr txBox="1"/>
          <p:nvPr/>
        </p:nvSpPr>
        <p:spPr>
          <a:xfrm>
            <a:off x="640080" y="3063240"/>
            <a:ext cx="1600200" cy="1325880"/>
          </a:xfrm>
          <a:prstGeom prst="rect">
            <a:avLst/>
          </a:prstGeom>
          <a:noFill/>
          <a:ln/>
        </p:spPr>
        <p:txBody>
          <a:bodyPr wrap="square" lIns="0" tIns="0" rIns="0" bIns="0" rtlCol="0" anchor="t"/>
          <a:lstStyle/>
          <a:p>
            <a:pPr marL="0" indent="0">
              <a:buNone/>
            </a:pPr>
            <a:r>
              <a:rPr lang="en-US" sz="1200" dirty="0">
                <a:solidFill>
                  <a:schemeClr val="tx1"/>
                </a:solidFill>
              </a:rPr>
              <a:t>Age, first-period age, past diagnoses, last period and missed months. Nothing is assumed.</a:t>
            </a:r>
            <a:endParaRPr lang="en-US" sz="1200" dirty="0"/>
          </a:p>
        </p:txBody>
      </p:sp>
      <p:sp>
        <p:nvSpPr>
          <p:cNvPr id="9" name="Arrow 1"/>
          <p:cNvSpPr/>
          <p:nvPr/>
        </p:nvSpPr>
        <p:spPr>
          <a:xfrm>
            <a:off x="2395728" y="2926080"/>
            <a:ext cx="146304" cy="256032"/>
          </a:xfrm>
          <a:prstGeom prst="rightArrow">
            <a:avLst/>
          </a:prstGeom>
          <a:solidFill>
            <a:schemeClr val="accent1"/>
          </a:solidFill>
          <a:ln w="12700">
            <a:solidFill>
              <a:schemeClr val="accent1"/>
            </a:solidFill>
            <a:prstDash val="solid"/>
          </a:ln>
        </p:spPr>
      </p:sp>
      <p:sp>
        <p:nvSpPr>
          <p:cNvPr id="10" name="Step card 2"/>
          <p:cNvSpPr/>
          <p:nvPr/>
        </p:nvSpPr>
        <p:spPr>
          <a:xfrm>
            <a:off x="2560320" y="1691640"/>
            <a:ext cx="1920240" cy="2743200"/>
          </a:xfrm>
          <a:prstGeom prst="roundRect">
            <a:avLst>
              <a:gd name="adj" fmla="val 5714"/>
            </a:avLst>
          </a:prstGeom>
          <a:solidFill>
            <a:schemeClr val="bg2"/>
          </a:solidFill>
          <a:ln w="12700">
            <a:solidFill>
              <a:schemeClr val="accent5"/>
            </a:solidFill>
            <a:prstDash val="solid"/>
          </a:ln>
        </p:spPr>
      </p:sp>
      <p:sp>
        <p:nvSpPr>
          <p:cNvPr id="11" name="Step 2 circle"/>
          <p:cNvSpPr/>
          <p:nvPr/>
        </p:nvSpPr>
        <p:spPr>
          <a:xfrm>
            <a:off x="2743200" y="1874520"/>
            <a:ext cx="640080" cy="640080"/>
          </a:xfrm>
          <a:prstGeom prst="ellipse">
            <a:avLst/>
          </a:prstGeom>
          <a:solidFill>
            <a:schemeClr val="accent1"/>
          </a:solidFill>
          <a:ln w="12700">
            <a:solidFill>
              <a:schemeClr val="accent1"/>
            </a:solidFill>
            <a:prstDash val="solid"/>
          </a:ln>
        </p:spPr>
      </p:sp>
      <p:pic>
        <p:nvPicPr>
          <p:cNvPr id="12" name="Step 2 icon" descr="Step 2"/>
          <p:cNvPicPr>
            <a:picLocks noChangeAspect="1"/>
          </p:cNvPicPr>
          <p:nvPr/>
        </p:nvPicPr>
        <p:blipFill>
          <a:blip r:embed="rId4"/>
          <a:stretch>
            <a:fillRect/>
          </a:stretch>
        </p:blipFill>
        <p:spPr>
          <a:xfrm>
            <a:off x="2903220" y="2034540"/>
            <a:ext cx="320040" cy="320040"/>
          </a:xfrm>
          <a:prstGeom prst="rect">
            <a:avLst/>
          </a:prstGeom>
        </p:spPr>
      </p:pic>
      <p:sp>
        <p:nvSpPr>
          <p:cNvPr id="13" name="Step title 2"/>
          <p:cNvSpPr txBox="1"/>
          <p:nvPr/>
        </p:nvSpPr>
        <p:spPr>
          <a:xfrm>
            <a:off x="2743200" y="2651760"/>
            <a:ext cx="1600200" cy="365760"/>
          </a:xfrm>
          <a:prstGeom prst="rect">
            <a:avLst/>
          </a:prstGeom>
          <a:noFill/>
          <a:ln/>
        </p:spPr>
        <p:txBody>
          <a:bodyPr wrap="square" lIns="0" tIns="0" rIns="0" bIns="0" rtlCol="0" anchor="t"/>
          <a:lstStyle/>
          <a:p>
            <a:pPr marL="0" indent="0">
              <a:buNone/>
            </a:pPr>
            <a:r>
              <a:rPr lang="en-US" sz="1700" b="1" dirty="0">
                <a:solidFill>
                  <a:schemeClr val="tx2"/>
                </a:solidFill>
              </a:rPr>
              <a:t>2  Log</a:t>
            </a:r>
            <a:endParaRPr lang="en-US" sz="1700" dirty="0"/>
          </a:p>
        </p:txBody>
      </p:sp>
      <p:sp>
        <p:nvSpPr>
          <p:cNvPr id="14" name="Step text 2"/>
          <p:cNvSpPr txBox="1"/>
          <p:nvPr/>
        </p:nvSpPr>
        <p:spPr>
          <a:xfrm>
            <a:off x="2743200" y="3063240"/>
            <a:ext cx="1600200" cy="1325880"/>
          </a:xfrm>
          <a:prstGeom prst="rect">
            <a:avLst/>
          </a:prstGeom>
          <a:noFill/>
          <a:ln/>
        </p:spPr>
        <p:txBody>
          <a:bodyPr wrap="square" lIns="0" tIns="0" rIns="0" bIns="0" rtlCol="0" anchor="t"/>
          <a:lstStyle/>
          <a:p>
            <a:pPr marL="0" indent="0">
              <a:buNone/>
            </a:pPr>
            <a:r>
              <a:rPr lang="en-US" sz="1200" dirty="0">
                <a:solidFill>
                  <a:schemeClr val="tx1"/>
                </a:solidFill>
              </a:rPr>
              <a:t>Under 30 seconds a day. Tap symptoms or speak them in English or Kannada.</a:t>
            </a:r>
            <a:endParaRPr lang="en-US" sz="1200" dirty="0"/>
          </a:p>
        </p:txBody>
      </p:sp>
      <p:sp>
        <p:nvSpPr>
          <p:cNvPr id="15" name="Arrow 2"/>
          <p:cNvSpPr/>
          <p:nvPr/>
        </p:nvSpPr>
        <p:spPr>
          <a:xfrm>
            <a:off x="4498848" y="2926080"/>
            <a:ext cx="146304" cy="256032"/>
          </a:xfrm>
          <a:prstGeom prst="rightArrow">
            <a:avLst/>
          </a:prstGeom>
          <a:solidFill>
            <a:schemeClr val="accent1"/>
          </a:solidFill>
          <a:ln w="12700">
            <a:solidFill>
              <a:schemeClr val="accent1"/>
            </a:solidFill>
            <a:prstDash val="solid"/>
          </a:ln>
        </p:spPr>
      </p:sp>
      <p:sp>
        <p:nvSpPr>
          <p:cNvPr id="16" name="Step card 3"/>
          <p:cNvSpPr/>
          <p:nvPr/>
        </p:nvSpPr>
        <p:spPr>
          <a:xfrm>
            <a:off x="4663440" y="1691640"/>
            <a:ext cx="1920240" cy="2743200"/>
          </a:xfrm>
          <a:prstGeom prst="roundRect">
            <a:avLst>
              <a:gd name="adj" fmla="val 5714"/>
            </a:avLst>
          </a:prstGeom>
          <a:solidFill>
            <a:schemeClr val="bg2"/>
          </a:solidFill>
          <a:ln w="12700">
            <a:solidFill>
              <a:schemeClr val="accent5"/>
            </a:solidFill>
            <a:prstDash val="solid"/>
          </a:ln>
        </p:spPr>
      </p:sp>
      <p:sp>
        <p:nvSpPr>
          <p:cNvPr id="17" name="Step 3 circle"/>
          <p:cNvSpPr/>
          <p:nvPr/>
        </p:nvSpPr>
        <p:spPr>
          <a:xfrm>
            <a:off x="4846320" y="1874520"/>
            <a:ext cx="640080" cy="640080"/>
          </a:xfrm>
          <a:prstGeom prst="ellipse">
            <a:avLst/>
          </a:prstGeom>
          <a:solidFill>
            <a:schemeClr val="accent1"/>
          </a:solidFill>
          <a:ln w="12700">
            <a:solidFill>
              <a:schemeClr val="accent1"/>
            </a:solidFill>
            <a:prstDash val="solid"/>
          </a:ln>
        </p:spPr>
      </p:sp>
      <p:pic>
        <p:nvPicPr>
          <p:cNvPr id="18" name="Step 3 icon" descr="Step 3"/>
          <p:cNvPicPr>
            <a:picLocks noChangeAspect="1"/>
          </p:cNvPicPr>
          <p:nvPr/>
        </p:nvPicPr>
        <p:blipFill>
          <a:blip r:embed="rId5"/>
          <a:stretch>
            <a:fillRect/>
          </a:stretch>
        </p:blipFill>
        <p:spPr>
          <a:xfrm>
            <a:off x="5006340" y="2034540"/>
            <a:ext cx="320040" cy="320040"/>
          </a:xfrm>
          <a:prstGeom prst="rect">
            <a:avLst/>
          </a:prstGeom>
        </p:spPr>
      </p:pic>
      <p:sp>
        <p:nvSpPr>
          <p:cNvPr id="19" name="Step title 3"/>
          <p:cNvSpPr txBox="1"/>
          <p:nvPr/>
        </p:nvSpPr>
        <p:spPr>
          <a:xfrm>
            <a:off x="4846320" y="2651760"/>
            <a:ext cx="1600200" cy="365760"/>
          </a:xfrm>
          <a:prstGeom prst="rect">
            <a:avLst/>
          </a:prstGeom>
          <a:noFill/>
          <a:ln/>
        </p:spPr>
        <p:txBody>
          <a:bodyPr wrap="square" lIns="0" tIns="0" rIns="0" bIns="0" rtlCol="0" anchor="t"/>
          <a:lstStyle/>
          <a:p>
            <a:pPr marL="0" indent="0">
              <a:buNone/>
            </a:pPr>
            <a:r>
              <a:rPr lang="en-US" sz="1700" b="1" dirty="0">
                <a:solidFill>
                  <a:schemeClr val="tx2"/>
                </a:solidFill>
              </a:rPr>
              <a:t>3  Insights</a:t>
            </a:r>
            <a:endParaRPr lang="en-US" sz="1700" dirty="0"/>
          </a:p>
        </p:txBody>
      </p:sp>
      <p:sp>
        <p:nvSpPr>
          <p:cNvPr id="20" name="Step text 3"/>
          <p:cNvSpPr txBox="1"/>
          <p:nvPr/>
        </p:nvSpPr>
        <p:spPr>
          <a:xfrm>
            <a:off x="4846320" y="3063240"/>
            <a:ext cx="1600200" cy="1325880"/>
          </a:xfrm>
          <a:prstGeom prst="rect">
            <a:avLst/>
          </a:prstGeom>
          <a:noFill/>
          <a:ln/>
        </p:spPr>
        <p:txBody>
          <a:bodyPr wrap="square" lIns="0" tIns="0" rIns="0" bIns="0" rtlCol="0" anchor="t"/>
          <a:lstStyle/>
          <a:p>
            <a:pPr marL="0" indent="0">
              <a:buNone/>
            </a:pPr>
            <a:r>
              <a:rPr lang="en-US" sz="1200" dirty="0">
                <a:solidFill>
                  <a:schemeClr val="tx1"/>
                </a:solidFill>
              </a:rPr>
              <a:t>Counted from day 1 of her cycle and read for her age. Every matched sign is shown.</a:t>
            </a:r>
            <a:endParaRPr lang="en-US" sz="1200" dirty="0"/>
          </a:p>
        </p:txBody>
      </p:sp>
      <p:sp>
        <p:nvSpPr>
          <p:cNvPr id="21" name="Arrow 3"/>
          <p:cNvSpPr/>
          <p:nvPr/>
        </p:nvSpPr>
        <p:spPr>
          <a:xfrm>
            <a:off x="6601968" y="2926080"/>
            <a:ext cx="146304" cy="256032"/>
          </a:xfrm>
          <a:prstGeom prst="rightArrow">
            <a:avLst/>
          </a:prstGeom>
          <a:solidFill>
            <a:schemeClr val="accent1"/>
          </a:solidFill>
          <a:ln w="12700">
            <a:solidFill>
              <a:schemeClr val="accent1"/>
            </a:solidFill>
            <a:prstDash val="solid"/>
          </a:ln>
        </p:spPr>
      </p:sp>
      <p:sp>
        <p:nvSpPr>
          <p:cNvPr id="22" name="Step card 4"/>
          <p:cNvSpPr/>
          <p:nvPr/>
        </p:nvSpPr>
        <p:spPr>
          <a:xfrm>
            <a:off x="6766560" y="1691640"/>
            <a:ext cx="1920240" cy="2743200"/>
          </a:xfrm>
          <a:prstGeom prst="roundRect">
            <a:avLst>
              <a:gd name="adj" fmla="val 5714"/>
            </a:avLst>
          </a:prstGeom>
          <a:solidFill>
            <a:schemeClr val="bg2"/>
          </a:solidFill>
          <a:ln w="12700">
            <a:solidFill>
              <a:schemeClr val="accent5"/>
            </a:solidFill>
            <a:prstDash val="solid"/>
          </a:ln>
        </p:spPr>
      </p:sp>
      <p:sp>
        <p:nvSpPr>
          <p:cNvPr id="23" name="Step 4 circle"/>
          <p:cNvSpPr/>
          <p:nvPr/>
        </p:nvSpPr>
        <p:spPr>
          <a:xfrm>
            <a:off x="6949440" y="1874520"/>
            <a:ext cx="640080" cy="640080"/>
          </a:xfrm>
          <a:prstGeom prst="ellipse">
            <a:avLst/>
          </a:prstGeom>
          <a:solidFill>
            <a:schemeClr val="accent1"/>
          </a:solidFill>
          <a:ln w="12700">
            <a:solidFill>
              <a:schemeClr val="accent1"/>
            </a:solidFill>
            <a:prstDash val="solid"/>
          </a:ln>
        </p:spPr>
      </p:sp>
      <p:pic>
        <p:nvPicPr>
          <p:cNvPr id="24" name="Step 4 icon" descr="Step 4"/>
          <p:cNvPicPr>
            <a:picLocks noChangeAspect="1"/>
          </p:cNvPicPr>
          <p:nvPr/>
        </p:nvPicPr>
        <p:blipFill>
          <a:blip r:embed="rId6"/>
          <a:stretch>
            <a:fillRect/>
          </a:stretch>
        </p:blipFill>
        <p:spPr>
          <a:xfrm>
            <a:off x="7109460" y="2034540"/>
            <a:ext cx="320040" cy="320040"/>
          </a:xfrm>
          <a:prstGeom prst="rect">
            <a:avLst/>
          </a:prstGeom>
        </p:spPr>
      </p:pic>
      <p:sp>
        <p:nvSpPr>
          <p:cNvPr id="25" name="Step title 4"/>
          <p:cNvSpPr txBox="1"/>
          <p:nvPr/>
        </p:nvSpPr>
        <p:spPr>
          <a:xfrm>
            <a:off x="6949440" y="2651760"/>
            <a:ext cx="1600200" cy="365760"/>
          </a:xfrm>
          <a:prstGeom prst="rect">
            <a:avLst/>
          </a:prstGeom>
          <a:noFill/>
          <a:ln/>
        </p:spPr>
        <p:txBody>
          <a:bodyPr wrap="square" lIns="0" tIns="0" rIns="0" bIns="0" rtlCol="0" anchor="t"/>
          <a:lstStyle/>
          <a:p>
            <a:pPr marL="0" indent="0">
              <a:buNone/>
            </a:pPr>
            <a:r>
              <a:rPr lang="en-US" sz="1700" b="1" dirty="0">
                <a:solidFill>
                  <a:schemeClr val="tx2"/>
                </a:solidFill>
              </a:rPr>
              <a:t>4  Doctor report</a:t>
            </a:r>
            <a:endParaRPr lang="en-US" sz="1700" dirty="0"/>
          </a:p>
        </p:txBody>
      </p:sp>
      <p:sp>
        <p:nvSpPr>
          <p:cNvPr id="26" name="Step text 4"/>
          <p:cNvSpPr txBox="1"/>
          <p:nvPr/>
        </p:nvSpPr>
        <p:spPr>
          <a:xfrm>
            <a:off x="6949440" y="3063240"/>
            <a:ext cx="1600200" cy="1325880"/>
          </a:xfrm>
          <a:prstGeom prst="rect">
            <a:avLst/>
          </a:prstGeom>
          <a:noFill/>
          <a:ln/>
        </p:spPr>
        <p:txBody>
          <a:bodyPr wrap="square" lIns="0" tIns="0" rIns="0" bIns="0" rtlCol="0" anchor="t"/>
          <a:lstStyle/>
          <a:p>
            <a:pPr marL="0" indent="0">
              <a:buNone/>
            </a:pPr>
            <a:r>
              <a:rPr lang="en-US" sz="1200" dirty="0">
                <a:solidFill>
                  <a:schemeClr val="tx1"/>
                </a:solidFill>
              </a:rPr>
              <a:t>One page: cycle stats, tests to discuss and questions to ask.</a:t>
            </a:r>
            <a:endParaRPr lang="en-US" sz="1200" dirty="0"/>
          </a:p>
        </p:txBody>
      </p:sp>
      <p:sp>
        <p:nvSpPr>
          <p:cNvPr id="2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What makes the idea different</a:t>
            </a:r>
            <a:endParaRPr lang="en-US" sz="3200" dirty="0"/>
          </a:p>
        </p:txBody>
      </p:sp>
      <p:sp>
        <p:nvSpPr>
          <p:cNvPr id="3" name="Feature card 1"/>
          <p:cNvSpPr/>
          <p:nvPr/>
        </p:nvSpPr>
        <p:spPr>
          <a:xfrm>
            <a:off x="457200" y="1234440"/>
            <a:ext cx="4023360" cy="1417320"/>
          </a:xfrm>
          <a:prstGeom prst="roundRect">
            <a:avLst>
              <a:gd name="adj" fmla="val 7742"/>
            </a:avLst>
          </a:prstGeom>
          <a:solidFill>
            <a:schemeClr val="bg2"/>
          </a:solidFill>
          <a:ln w="12700">
            <a:solidFill>
              <a:schemeClr val="accent5"/>
            </a:solidFill>
            <a:prstDash val="solid"/>
          </a:ln>
        </p:spPr>
      </p:sp>
      <p:sp>
        <p:nvSpPr>
          <p:cNvPr id="4" name="Feature 1 circle"/>
          <p:cNvSpPr/>
          <p:nvPr/>
        </p:nvSpPr>
        <p:spPr>
          <a:xfrm>
            <a:off x="685800" y="1581912"/>
            <a:ext cx="685800" cy="685800"/>
          </a:xfrm>
          <a:prstGeom prst="ellipse">
            <a:avLst/>
          </a:prstGeom>
          <a:solidFill>
            <a:schemeClr val="accent1"/>
          </a:solidFill>
          <a:ln w="12700">
            <a:solidFill>
              <a:schemeClr val="accent1"/>
            </a:solidFill>
            <a:prstDash val="solid"/>
          </a:ln>
        </p:spPr>
      </p:sp>
      <p:pic>
        <p:nvPicPr>
          <p:cNvPr id="5" name="Feature 1 icon" descr="Feature 1"/>
          <p:cNvPicPr>
            <a:picLocks noChangeAspect="1"/>
          </p:cNvPicPr>
          <p:nvPr/>
        </p:nvPicPr>
        <p:blipFill>
          <a:blip r:embed="rId3"/>
          <a:stretch>
            <a:fillRect/>
          </a:stretch>
        </p:blipFill>
        <p:spPr>
          <a:xfrm>
            <a:off x="857250" y="1753362"/>
            <a:ext cx="342900" cy="342900"/>
          </a:xfrm>
          <a:prstGeom prst="rect">
            <a:avLst/>
          </a:prstGeom>
        </p:spPr>
      </p:pic>
      <p:sp>
        <p:nvSpPr>
          <p:cNvPr id="6" name="Feature title 1"/>
          <p:cNvSpPr txBox="1"/>
          <p:nvPr/>
        </p:nvSpPr>
        <p:spPr>
          <a:xfrm>
            <a:off x="1554480" y="1463040"/>
            <a:ext cx="2743200" cy="320040"/>
          </a:xfrm>
          <a:prstGeom prst="rect">
            <a:avLst/>
          </a:prstGeom>
          <a:noFill/>
          <a:ln/>
        </p:spPr>
        <p:txBody>
          <a:bodyPr wrap="square" lIns="0" tIns="0" rIns="0" bIns="0" rtlCol="0" anchor="t"/>
          <a:lstStyle/>
          <a:p>
            <a:pPr marL="0" indent="0">
              <a:buNone/>
            </a:pPr>
            <a:r>
              <a:rPr lang="en-US" sz="1800" b="1" dirty="0">
                <a:solidFill>
                  <a:schemeClr val="tx2"/>
                </a:solidFill>
              </a:rPr>
              <a:t>Reads age and cycle</a:t>
            </a:r>
            <a:endParaRPr lang="en-US" sz="1800" dirty="0"/>
          </a:p>
        </p:txBody>
      </p:sp>
      <p:sp>
        <p:nvSpPr>
          <p:cNvPr id="7" name="Feature text 1"/>
          <p:cNvSpPr txBox="1"/>
          <p:nvPr/>
        </p:nvSpPr>
        <p:spPr>
          <a:xfrm>
            <a:off x="1554480" y="1828800"/>
            <a:ext cx="2743200" cy="731520"/>
          </a:xfrm>
          <a:prstGeom prst="rect">
            <a:avLst/>
          </a:prstGeom>
          <a:noFill/>
          <a:ln/>
        </p:spPr>
        <p:txBody>
          <a:bodyPr wrap="square" lIns="0" tIns="0" rIns="0" bIns="0" rtlCol="0" anchor="t"/>
          <a:lstStyle/>
          <a:p>
            <a:pPr marL="0" indent="0">
              <a:buNone/>
            </a:pPr>
            <a:r>
              <a:rPr lang="en-US" sz="1400" dirty="0">
                <a:solidFill>
                  <a:schemeClr val="tx1"/>
                </a:solidFill>
              </a:rPr>
              <a:t>Teen irregularity and the 40s transition are treated differently from PCOS.</a:t>
            </a:r>
            <a:endParaRPr lang="en-US" sz="1400" dirty="0"/>
          </a:p>
        </p:txBody>
      </p:sp>
      <p:sp>
        <p:nvSpPr>
          <p:cNvPr id="8" name="Feature card 2"/>
          <p:cNvSpPr/>
          <p:nvPr/>
        </p:nvSpPr>
        <p:spPr>
          <a:xfrm>
            <a:off x="4663440" y="1234440"/>
            <a:ext cx="4023360" cy="1417320"/>
          </a:xfrm>
          <a:prstGeom prst="roundRect">
            <a:avLst>
              <a:gd name="adj" fmla="val 7742"/>
            </a:avLst>
          </a:prstGeom>
          <a:solidFill>
            <a:schemeClr val="bg2"/>
          </a:solidFill>
          <a:ln w="12700">
            <a:solidFill>
              <a:schemeClr val="accent5"/>
            </a:solidFill>
            <a:prstDash val="solid"/>
          </a:ln>
        </p:spPr>
      </p:sp>
      <p:sp>
        <p:nvSpPr>
          <p:cNvPr id="9" name="Feature 2 circle"/>
          <p:cNvSpPr/>
          <p:nvPr/>
        </p:nvSpPr>
        <p:spPr>
          <a:xfrm>
            <a:off x="4892040" y="1581912"/>
            <a:ext cx="685800" cy="685800"/>
          </a:xfrm>
          <a:prstGeom prst="ellipse">
            <a:avLst/>
          </a:prstGeom>
          <a:solidFill>
            <a:schemeClr val="accent1"/>
          </a:solidFill>
          <a:ln w="12700">
            <a:solidFill>
              <a:schemeClr val="accent1"/>
            </a:solidFill>
            <a:prstDash val="solid"/>
          </a:ln>
        </p:spPr>
      </p:sp>
      <p:pic>
        <p:nvPicPr>
          <p:cNvPr id="10" name="Feature 2 icon" descr="Feature 2"/>
          <p:cNvPicPr>
            <a:picLocks noChangeAspect="1"/>
          </p:cNvPicPr>
          <p:nvPr/>
        </p:nvPicPr>
        <p:blipFill>
          <a:blip r:embed="rId4"/>
          <a:stretch>
            <a:fillRect/>
          </a:stretch>
        </p:blipFill>
        <p:spPr>
          <a:xfrm>
            <a:off x="5063490" y="1753362"/>
            <a:ext cx="342900" cy="342900"/>
          </a:xfrm>
          <a:prstGeom prst="rect">
            <a:avLst/>
          </a:prstGeom>
        </p:spPr>
      </p:pic>
      <p:sp>
        <p:nvSpPr>
          <p:cNvPr id="11" name="Feature title 2"/>
          <p:cNvSpPr txBox="1"/>
          <p:nvPr/>
        </p:nvSpPr>
        <p:spPr>
          <a:xfrm>
            <a:off x="5760720" y="1463040"/>
            <a:ext cx="2743200" cy="320040"/>
          </a:xfrm>
          <a:prstGeom prst="rect">
            <a:avLst/>
          </a:prstGeom>
          <a:noFill/>
          <a:ln/>
        </p:spPr>
        <p:txBody>
          <a:bodyPr wrap="square" lIns="0" tIns="0" rIns="0" bIns="0" rtlCol="0" anchor="t"/>
          <a:lstStyle/>
          <a:p>
            <a:pPr marL="0" indent="0">
              <a:buNone/>
            </a:pPr>
            <a:r>
              <a:rPr lang="en-US" sz="1800" b="1" dirty="0">
                <a:solidFill>
                  <a:schemeClr val="tx2"/>
                </a:solidFill>
              </a:rPr>
              <a:t>Speak your symptoms</a:t>
            </a:r>
            <a:endParaRPr lang="en-US" sz="1800" dirty="0"/>
          </a:p>
        </p:txBody>
      </p:sp>
      <p:sp>
        <p:nvSpPr>
          <p:cNvPr id="12" name="Feature text 2"/>
          <p:cNvSpPr txBox="1"/>
          <p:nvPr/>
        </p:nvSpPr>
        <p:spPr>
          <a:xfrm>
            <a:off x="5760720" y="1828800"/>
            <a:ext cx="2743200" cy="731520"/>
          </a:xfrm>
          <a:prstGeom prst="rect">
            <a:avLst/>
          </a:prstGeom>
          <a:noFill/>
          <a:ln/>
        </p:spPr>
        <p:txBody>
          <a:bodyPr wrap="square" lIns="0" tIns="0" rIns="0" bIns="0" rtlCol="0" anchor="t"/>
          <a:lstStyle/>
          <a:p>
            <a:pPr marL="0" indent="0">
              <a:buNone/>
            </a:pPr>
            <a:r>
              <a:rPr lang="en-US" sz="1400" dirty="0">
                <a:solidFill>
                  <a:schemeClr val="tx1"/>
                </a:solidFill>
              </a:rPr>
              <a:t>English and Kannada voice input ticks matching symptoms for you.</a:t>
            </a:r>
            <a:endParaRPr lang="en-US" sz="1400" dirty="0"/>
          </a:p>
        </p:txBody>
      </p:sp>
      <p:sp>
        <p:nvSpPr>
          <p:cNvPr id="13" name="Feature card 3"/>
          <p:cNvSpPr/>
          <p:nvPr/>
        </p:nvSpPr>
        <p:spPr>
          <a:xfrm>
            <a:off x="457200" y="2834640"/>
            <a:ext cx="4023360" cy="1417320"/>
          </a:xfrm>
          <a:prstGeom prst="roundRect">
            <a:avLst>
              <a:gd name="adj" fmla="val 7742"/>
            </a:avLst>
          </a:prstGeom>
          <a:solidFill>
            <a:schemeClr val="bg2"/>
          </a:solidFill>
          <a:ln w="12700">
            <a:solidFill>
              <a:schemeClr val="accent5"/>
            </a:solidFill>
            <a:prstDash val="solid"/>
          </a:ln>
        </p:spPr>
      </p:sp>
      <p:sp>
        <p:nvSpPr>
          <p:cNvPr id="14" name="Feature 3 circle"/>
          <p:cNvSpPr/>
          <p:nvPr/>
        </p:nvSpPr>
        <p:spPr>
          <a:xfrm>
            <a:off x="685800" y="3182112"/>
            <a:ext cx="685800" cy="685800"/>
          </a:xfrm>
          <a:prstGeom prst="ellipse">
            <a:avLst/>
          </a:prstGeom>
          <a:solidFill>
            <a:schemeClr val="accent1"/>
          </a:solidFill>
          <a:ln w="12700">
            <a:solidFill>
              <a:schemeClr val="accent1"/>
            </a:solidFill>
            <a:prstDash val="solid"/>
          </a:ln>
        </p:spPr>
      </p:sp>
      <p:pic>
        <p:nvPicPr>
          <p:cNvPr id="15" name="Feature 3 icon" descr="Feature 3"/>
          <p:cNvPicPr>
            <a:picLocks noChangeAspect="1"/>
          </p:cNvPicPr>
          <p:nvPr/>
        </p:nvPicPr>
        <p:blipFill>
          <a:blip r:embed="rId5"/>
          <a:stretch>
            <a:fillRect/>
          </a:stretch>
        </p:blipFill>
        <p:spPr>
          <a:xfrm>
            <a:off x="857250" y="3353562"/>
            <a:ext cx="342900" cy="342900"/>
          </a:xfrm>
          <a:prstGeom prst="rect">
            <a:avLst/>
          </a:prstGeom>
        </p:spPr>
      </p:pic>
      <p:sp>
        <p:nvSpPr>
          <p:cNvPr id="16" name="Feature title 3"/>
          <p:cNvSpPr txBox="1"/>
          <p:nvPr/>
        </p:nvSpPr>
        <p:spPr>
          <a:xfrm>
            <a:off x="1554480" y="3063240"/>
            <a:ext cx="2743200" cy="320040"/>
          </a:xfrm>
          <a:prstGeom prst="rect">
            <a:avLst/>
          </a:prstGeom>
          <a:noFill/>
          <a:ln/>
        </p:spPr>
        <p:txBody>
          <a:bodyPr wrap="square" lIns="0" tIns="0" rIns="0" bIns="0" rtlCol="0" anchor="t"/>
          <a:lstStyle/>
          <a:p>
            <a:pPr marL="0" indent="0">
              <a:buNone/>
            </a:pPr>
            <a:r>
              <a:rPr lang="en-US" sz="1800" b="1" dirty="0">
                <a:solidFill>
                  <a:schemeClr val="tx2"/>
                </a:solidFill>
              </a:rPr>
              <a:t>Open, explainable rules</a:t>
            </a:r>
            <a:endParaRPr lang="en-US" sz="1800" dirty="0"/>
          </a:p>
        </p:txBody>
      </p:sp>
      <p:sp>
        <p:nvSpPr>
          <p:cNvPr id="17" name="Feature text 3"/>
          <p:cNvSpPr txBox="1"/>
          <p:nvPr/>
        </p:nvSpPr>
        <p:spPr>
          <a:xfrm>
            <a:off x="1554480" y="3429000"/>
            <a:ext cx="2743200" cy="731520"/>
          </a:xfrm>
          <a:prstGeom prst="rect">
            <a:avLst/>
          </a:prstGeom>
          <a:noFill/>
          <a:ln/>
        </p:spPr>
        <p:txBody>
          <a:bodyPr wrap="square" lIns="0" tIns="0" rIns="0" bIns="0" rtlCol="0" anchor="t"/>
          <a:lstStyle/>
          <a:p>
            <a:pPr marL="0" indent="0">
              <a:buNone/>
            </a:pPr>
            <a:r>
              <a:rPr lang="en-US" sz="1400" dirty="0">
                <a:solidFill>
                  <a:schemeClr val="tx1"/>
                </a:solidFill>
              </a:rPr>
              <a:t>No black box. Every matched sign is visible and checkable.</a:t>
            </a:r>
            <a:endParaRPr lang="en-US" sz="1400" dirty="0"/>
          </a:p>
        </p:txBody>
      </p:sp>
      <p:sp>
        <p:nvSpPr>
          <p:cNvPr id="18" name="Feature card 4"/>
          <p:cNvSpPr/>
          <p:nvPr/>
        </p:nvSpPr>
        <p:spPr>
          <a:xfrm>
            <a:off x="4663440" y="2834640"/>
            <a:ext cx="4023360" cy="1417320"/>
          </a:xfrm>
          <a:prstGeom prst="roundRect">
            <a:avLst>
              <a:gd name="adj" fmla="val 7742"/>
            </a:avLst>
          </a:prstGeom>
          <a:solidFill>
            <a:schemeClr val="bg2"/>
          </a:solidFill>
          <a:ln w="12700">
            <a:solidFill>
              <a:schemeClr val="accent5"/>
            </a:solidFill>
            <a:prstDash val="solid"/>
          </a:ln>
        </p:spPr>
      </p:sp>
      <p:sp>
        <p:nvSpPr>
          <p:cNvPr id="19" name="Feature 4 circle"/>
          <p:cNvSpPr/>
          <p:nvPr/>
        </p:nvSpPr>
        <p:spPr>
          <a:xfrm>
            <a:off x="4892040" y="3182112"/>
            <a:ext cx="685800" cy="685800"/>
          </a:xfrm>
          <a:prstGeom prst="ellipse">
            <a:avLst/>
          </a:prstGeom>
          <a:solidFill>
            <a:schemeClr val="accent1"/>
          </a:solidFill>
          <a:ln w="12700">
            <a:solidFill>
              <a:schemeClr val="accent1"/>
            </a:solidFill>
            <a:prstDash val="solid"/>
          </a:ln>
        </p:spPr>
      </p:sp>
      <p:pic>
        <p:nvPicPr>
          <p:cNvPr id="20" name="Feature 4 icon" descr="Feature 4"/>
          <p:cNvPicPr>
            <a:picLocks noChangeAspect="1"/>
          </p:cNvPicPr>
          <p:nvPr/>
        </p:nvPicPr>
        <p:blipFill>
          <a:blip r:embed="rId6"/>
          <a:stretch>
            <a:fillRect/>
          </a:stretch>
        </p:blipFill>
        <p:spPr>
          <a:xfrm>
            <a:off x="5063490" y="3353562"/>
            <a:ext cx="342900" cy="342900"/>
          </a:xfrm>
          <a:prstGeom prst="rect">
            <a:avLst/>
          </a:prstGeom>
        </p:spPr>
      </p:pic>
      <p:sp>
        <p:nvSpPr>
          <p:cNvPr id="21" name="Feature title 4"/>
          <p:cNvSpPr txBox="1"/>
          <p:nvPr/>
        </p:nvSpPr>
        <p:spPr>
          <a:xfrm>
            <a:off x="5760720" y="3063240"/>
            <a:ext cx="2743200" cy="320040"/>
          </a:xfrm>
          <a:prstGeom prst="rect">
            <a:avLst/>
          </a:prstGeom>
          <a:noFill/>
          <a:ln/>
        </p:spPr>
        <p:txBody>
          <a:bodyPr wrap="square" lIns="0" tIns="0" rIns="0" bIns="0" rtlCol="0" anchor="t"/>
          <a:lstStyle/>
          <a:p>
            <a:pPr marL="0" indent="0">
              <a:buNone/>
            </a:pPr>
            <a:r>
              <a:rPr lang="en-US" sz="1800" b="1" dirty="0">
                <a:solidFill>
                  <a:schemeClr val="tx2"/>
                </a:solidFill>
              </a:rPr>
              <a:t>Private by design</a:t>
            </a:r>
            <a:endParaRPr lang="en-US" sz="1800" dirty="0"/>
          </a:p>
        </p:txBody>
      </p:sp>
      <p:sp>
        <p:nvSpPr>
          <p:cNvPr id="22" name="Feature text 4"/>
          <p:cNvSpPr txBox="1"/>
          <p:nvPr/>
        </p:nvSpPr>
        <p:spPr>
          <a:xfrm>
            <a:off x="5760720" y="3429000"/>
            <a:ext cx="2743200" cy="731520"/>
          </a:xfrm>
          <a:prstGeom prst="rect">
            <a:avLst/>
          </a:prstGeom>
          <a:noFill/>
          <a:ln/>
        </p:spPr>
        <p:txBody>
          <a:bodyPr wrap="square" lIns="0" tIns="0" rIns="0" bIns="0" rtlCol="0" anchor="t"/>
          <a:lstStyle/>
          <a:p>
            <a:pPr marL="0" indent="0">
              <a:buNone/>
            </a:pPr>
            <a:r>
              <a:rPr lang="en-US" sz="1400" dirty="0">
                <a:solidFill>
                  <a:schemeClr val="tx1"/>
                </a:solidFill>
              </a:rPr>
              <a:t>Data stays on the device. Passwords are stored only as salted hashes.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A working product, end to end</a:t>
            </a:r>
            <a:endParaRPr lang="en-US" sz="3200" dirty="0"/>
          </a:p>
        </p:txBody>
      </p:sp>
      <p:sp>
        <p:nvSpPr>
          <p:cNvPr id="3" name="Screenshot: About you, no assumptions frame"/>
          <p:cNvSpPr/>
          <p:nvPr/>
        </p:nvSpPr>
        <p:spPr>
          <a:xfrm>
            <a:off x="402336" y="1088136"/>
            <a:ext cx="1504080" cy="3127248"/>
          </a:xfrm>
          <a:prstGeom prst="roundRect">
            <a:avLst>
              <a:gd name="adj" fmla="val 6079"/>
            </a:avLst>
          </a:prstGeom>
          <a:solidFill>
            <a:schemeClr val="bg1"/>
          </a:solidFill>
          <a:ln w="19050">
            <a:solidFill>
              <a:schemeClr val="accent5"/>
            </a:solidFill>
            <a:prstDash val="solid"/>
          </a:ln>
        </p:spPr>
      </p:sp>
      <p:pic>
        <p:nvPicPr>
          <p:cNvPr id="4" name="Screenshot: About you, no assumptions" descr="Screenshot: About you, no assumptions"/>
          <p:cNvPicPr>
            <a:picLocks noChangeAspect="1"/>
          </p:cNvPicPr>
          <p:nvPr/>
        </p:nvPicPr>
        <p:blipFill>
          <a:blip r:embed="rId3"/>
          <a:stretch>
            <a:fillRect/>
          </a:stretch>
        </p:blipFill>
        <p:spPr>
          <a:xfrm>
            <a:off x="457200" y="1143000"/>
            <a:ext cx="1394352" cy="3017520"/>
          </a:xfrm>
          <a:prstGeom prst="rect">
            <a:avLst/>
          </a:prstGeom>
        </p:spPr>
      </p:pic>
      <p:sp>
        <p:nvSpPr>
          <p:cNvPr id="5" name="Caption 1"/>
          <p:cNvSpPr txBox="1"/>
          <p:nvPr/>
        </p:nvSpPr>
        <p:spPr>
          <a:xfrm>
            <a:off x="182880" y="4315968"/>
            <a:ext cx="1942992" cy="274320"/>
          </a:xfrm>
          <a:prstGeom prst="rect">
            <a:avLst/>
          </a:prstGeom>
          <a:noFill/>
          <a:ln/>
        </p:spPr>
        <p:txBody>
          <a:bodyPr wrap="square" lIns="0" tIns="0" rIns="0" bIns="0" rtlCol="0" anchor="t"/>
          <a:lstStyle/>
          <a:p>
            <a:pPr marL="0" indent="0" algn="ctr">
              <a:buNone/>
            </a:pPr>
            <a:r>
              <a:rPr lang="en-US" sz="1200" b="1" dirty="0">
                <a:solidFill>
                  <a:schemeClr val="accent6"/>
                </a:solidFill>
              </a:rPr>
              <a:t>About you, no assumptions</a:t>
            </a:r>
            <a:endParaRPr lang="en-US" sz="1200" dirty="0"/>
          </a:p>
        </p:txBody>
      </p:sp>
      <p:sp>
        <p:nvSpPr>
          <p:cNvPr id="6" name="Screenshot: Flow guides pain, energy frame"/>
          <p:cNvSpPr/>
          <p:nvPr/>
        </p:nvSpPr>
        <p:spPr>
          <a:xfrm>
            <a:off x="2680752" y="1088136"/>
            <a:ext cx="1504080" cy="3127248"/>
          </a:xfrm>
          <a:prstGeom prst="roundRect">
            <a:avLst>
              <a:gd name="adj" fmla="val 6079"/>
            </a:avLst>
          </a:prstGeom>
          <a:solidFill>
            <a:schemeClr val="bg1"/>
          </a:solidFill>
          <a:ln w="19050">
            <a:solidFill>
              <a:schemeClr val="accent5"/>
            </a:solidFill>
            <a:prstDash val="solid"/>
          </a:ln>
        </p:spPr>
      </p:sp>
      <p:pic>
        <p:nvPicPr>
          <p:cNvPr id="7" name="Screenshot: Flow guides pain, energy" descr="Screenshot: Flow guides pain, energy"/>
          <p:cNvPicPr>
            <a:picLocks noChangeAspect="1"/>
          </p:cNvPicPr>
          <p:nvPr/>
        </p:nvPicPr>
        <p:blipFill>
          <a:blip r:embed="rId4"/>
          <a:stretch>
            <a:fillRect/>
          </a:stretch>
        </p:blipFill>
        <p:spPr>
          <a:xfrm>
            <a:off x="2735616" y="1143000"/>
            <a:ext cx="1394352" cy="3017520"/>
          </a:xfrm>
          <a:prstGeom prst="rect">
            <a:avLst/>
          </a:prstGeom>
        </p:spPr>
      </p:pic>
      <p:sp>
        <p:nvSpPr>
          <p:cNvPr id="8" name="Caption 2"/>
          <p:cNvSpPr txBox="1"/>
          <p:nvPr/>
        </p:nvSpPr>
        <p:spPr>
          <a:xfrm>
            <a:off x="2461296" y="4315968"/>
            <a:ext cx="1942992" cy="274320"/>
          </a:xfrm>
          <a:prstGeom prst="rect">
            <a:avLst/>
          </a:prstGeom>
          <a:noFill/>
          <a:ln/>
        </p:spPr>
        <p:txBody>
          <a:bodyPr wrap="square" lIns="0" tIns="0" rIns="0" bIns="0" rtlCol="0" anchor="t"/>
          <a:lstStyle/>
          <a:p>
            <a:pPr marL="0" indent="0" algn="ctr">
              <a:buNone/>
            </a:pPr>
            <a:r>
              <a:rPr lang="en-US" sz="1200" b="1" dirty="0">
                <a:solidFill>
                  <a:schemeClr val="accent6"/>
                </a:solidFill>
              </a:rPr>
              <a:t>Flow guides pain, energy</a:t>
            </a:r>
            <a:endParaRPr lang="en-US" sz="1200" dirty="0"/>
          </a:p>
        </p:txBody>
      </p:sp>
      <p:sp>
        <p:nvSpPr>
          <p:cNvPr id="9" name="Screenshot: Insights from day one frame"/>
          <p:cNvSpPr/>
          <p:nvPr/>
        </p:nvSpPr>
        <p:spPr>
          <a:xfrm>
            <a:off x="4959168" y="1088136"/>
            <a:ext cx="1504080" cy="3127248"/>
          </a:xfrm>
          <a:prstGeom prst="roundRect">
            <a:avLst>
              <a:gd name="adj" fmla="val 6079"/>
            </a:avLst>
          </a:prstGeom>
          <a:solidFill>
            <a:schemeClr val="bg1"/>
          </a:solidFill>
          <a:ln w="19050">
            <a:solidFill>
              <a:schemeClr val="accent5"/>
            </a:solidFill>
            <a:prstDash val="solid"/>
          </a:ln>
        </p:spPr>
      </p:sp>
      <p:pic>
        <p:nvPicPr>
          <p:cNvPr id="10" name="Screenshot: Insights from day one" descr="Screenshot: Insights from day one"/>
          <p:cNvPicPr>
            <a:picLocks noChangeAspect="1"/>
          </p:cNvPicPr>
          <p:nvPr/>
        </p:nvPicPr>
        <p:blipFill>
          <a:blip r:embed="rId5"/>
          <a:stretch>
            <a:fillRect/>
          </a:stretch>
        </p:blipFill>
        <p:spPr>
          <a:xfrm>
            <a:off x="5014032" y="1143000"/>
            <a:ext cx="1394352" cy="3017520"/>
          </a:xfrm>
          <a:prstGeom prst="rect">
            <a:avLst/>
          </a:prstGeom>
        </p:spPr>
      </p:pic>
      <p:sp>
        <p:nvSpPr>
          <p:cNvPr id="11" name="Caption 3"/>
          <p:cNvSpPr txBox="1"/>
          <p:nvPr/>
        </p:nvSpPr>
        <p:spPr>
          <a:xfrm>
            <a:off x="4739712" y="4315968"/>
            <a:ext cx="1942992" cy="274320"/>
          </a:xfrm>
          <a:prstGeom prst="rect">
            <a:avLst/>
          </a:prstGeom>
          <a:noFill/>
          <a:ln/>
        </p:spPr>
        <p:txBody>
          <a:bodyPr wrap="square" lIns="0" tIns="0" rIns="0" bIns="0" rtlCol="0" anchor="t"/>
          <a:lstStyle/>
          <a:p>
            <a:pPr marL="0" indent="0" algn="ctr">
              <a:buNone/>
            </a:pPr>
            <a:r>
              <a:rPr lang="en-US" sz="1200" b="1" dirty="0">
                <a:solidFill>
                  <a:schemeClr val="accent6"/>
                </a:solidFill>
              </a:rPr>
              <a:t>Insights from day one</a:t>
            </a:r>
            <a:endParaRPr lang="en-US" sz="1200" dirty="0"/>
          </a:p>
        </p:txBody>
      </p:sp>
      <p:sp>
        <p:nvSpPr>
          <p:cNvPr id="12" name="Screenshot: Full Kannada support frame"/>
          <p:cNvSpPr/>
          <p:nvPr/>
        </p:nvSpPr>
        <p:spPr>
          <a:xfrm>
            <a:off x="7237584" y="1088136"/>
            <a:ext cx="1504080" cy="3127248"/>
          </a:xfrm>
          <a:prstGeom prst="roundRect">
            <a:avLst>
              <a:gd name="adj" fmla="val 6079"/>
            </a:avLst>
          </a:prstGeom>
          <a:solidFill>
            <a:schemeClr val="bg1"/>
          </a:solidFill>
          <a:ln w="19050">
            <a:solidFill>
              <a:schemeClr val="accent5"/>
            </a:solidFill>
            <a:prstDash val="solid"/>
          </a:ln>
        </p:spPr>
      </p:sp>
      <p:pic>
        <p:nvPicPr>
          <p:cNvPr id="13" name="Screenshot: Full Kannada support" descr="Screenshot: Full Kannada support"/>
          <p:cNvPicPr>
            <a:picLocks noChangeAspect="1"/>
          </p:cNvPicPr>
          <p:nvPr/>
        </p:nvPicPr>
        <p:blipFill>
          <a:blip r:embed="rId6"/>
          <a:stretch>
            <a:fillRect/>
          </a:stretch>
        </p:blipFill>
        <p:spPr>
          <a:xfrm>
            <a:off x="7292448" y="1143000"/>
            <a:ext cx="1394352" cy="3017520"/>
          </a:xfrm>
          <a:prstGeom prst="rect">
            <a:avLst/>
          </a:prstGeom>
        </p:spPr>
      </p:pic>
      <p:sp>
        <p:nvSpPr>
          <p:cNvPr id="14" name="Caption 4"/>
          <p:cNvSpPr txBox="1"/>
          <p:nvPr/>
        </p:nvSpPr>
        <p:spPr>
          <a:xfrm>
            <a:off x="7018128" y="4315968"/>
            <a:ext cx="1942992" cy="274320"/>
          </a:xfrm>
          <a:prstGeom prst="rect">
            <a:avLst/>
          </a:prstGeom>
          <a:noFill/>
          <a:ln/>
        </p:spPr>
        <p:txBody>
          <a:bodyPr wrap="square" lIns="0" tIns="0" rIns="0" bIns="0" rtlCol="0" anchor="t"/>
          <a:lstStyle/>
          <a:p>
            <a:pPr marL="0" indent="0" algn="ctr">
              <a:buNone/>
            </a:pPr>
            <a:r>
              <a:rPr lang="en-US" sz="1200" b="1" dirty="0">
                <a:solidFill>
                  <a:schemeClr val="accent6"/>
                </a:solidFill>
              </a:rPr>
              <a:t>Full Kannada support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Technical approach: cycle- and age-aware</a:t>
            </a:r>
            <a:endParaRPr lang="en-US" sz="3200" dirty="0"/>
          </a:p>
        </p:txBody>
      </p:sp>
      <p:sp>
        <p:nvSpPr>
          <p:cNvPr id="3" name="Stage head 1"/>
          <p:cNvSpPr/>
          <p:nvPr/>
        </p:nvSpPr>
        <p:spPr>
          <a:xfrm>
            <a:off x="457200" y="1234440"/>
            <a:ext cx="1920240" cy="502920"/>
          </a:xfrm>
          <a:prstGeom prst="roundRect">
            <a:avLst>
              <a:gd name="adj" fmla="val 14545"/>
            </a:avLst>
          </a:prstGeom>
          <a:solidFill>
            <a:schemeClr val="accent1"/>
          </a:solidFill>
          <a:ln w="12700">
            <a:solidFill>
              <a:schemeClr val="accent1"/>
            </a:solidFill>
            <a:prstDash val="solid"/>
          </a:ln>
        </p:spPr>
      </p:sp>
      <p:sp>
        <p:nvSpPr>
          <p:cNvPr id="4" name="Stage title 1"/>
          <p:cNvSpPr txBox="1"/>
          <p:nvPr/>
        </p:nvSpPr>
        <p:spPr>
          <a:xfrm>
            <a:off x="457200" y="1234440"/>
            <a:ext cx="1920240" cy="502920"/>
          </a:xfrm>
          <a:prstGeom prst="rect">
            <a:avLst/>
          </a:prstGeom>
          <a:noFill/>
          <a:ln/>
        </p:spPr>
        <p:txBody>
          <a:bodyPr wrap="square" lIns="0" tIns="0" rIns="0" bIns="0" rtlCol="0" anchor="ctr"/>
          <a:lstStyle/>
          <a:p>
            <a:pPr marL="0" indent="0" algn="ctr">
              <a:buNone/>
            </a:pPr>
            <a:r>
              <a:rPr lang="en-US" sz="1500" b="1" dirty="0">
                <a:solidFill>
                  <a:schemeClr val="bg1"/>
                </a:solidFill>
              </a:rPr>
              <a:t>Inputs</a:t>
            </a:r>
            <a:endParaRPr lang="en-US" sz="1500" dirty="0"/>
          </a:p>
        </p:txBody>
      </p:sp>
      <p:sp>
        <p:nvSpPr>
          <p:cNvPr id="5" name="Stage card 1"/>
          <p:cNvSpPr/>
          <p:nvPr/>
        </p:nvSpPr>
        <p:spPr>
          <a:xfrm>
            <a:off x="457200" y="1783080"/>
            <a:ext cx="1920240" cy="1600200"/>
          </a:xfrm>
          <a:prstGeom prst="roundRect">
            <a:avLst>
              <a:gd name="adj" fmla="val 6857"/>
            </a:avLst>
          </a:prstGeom>
          <a:solidFill>
            <a:schemeClr val="bg2"/>
          </a:solidFill>
          <a:ln w="12700">
            <a:solidFill>
              <a:schemeClr val="accent5"/>
            </a:solidFill>
            <a:prstDash val="solid"/>
          </a:ln>
        </p:spPr>
      </p:sp>
      <p:sp>
        <p:nvSpPr>
          <p:cNvPr id="6" name="Stage text 1"/>
          <p:cNvSpPr txBox="1"/>
          <p:nvPr/>
        </p:nvSpPr>
        <p:spPr>
          <a:xfrm>
            <a:off x="594360" y="1874520"/>
            <a:ext cx="1645920" cy="1417320"/>
          </a:xfrm>
          <a:prstGeom prst="rect">
            <a:avLst/>
          </a:prstGeom>
          <a:noFill/>
          <a:ln/>
        </p:spPr>
        <p:txBody>
          <a:bodyPr wrap="square" lIns="0" tIns="0" rIns="0" bIns="0" rtlCol="0" anchor="ctr"/>
          <a:lstStyle/>
          <a:p>
            <a:pPr marL="0" indent="0" algn="ctr">
              <a:buNone/>
            </a:pPr>
            <a:r>
              <a:rPr lang="en-US" sz="1300" dirty="0">
                <a:solidFill>
                  <a:schemeClr val="tx1"/>
                </a:solidFill>
              </a:rPr>
              <a:t>Age, first period age</a:t>
            </a:r>
            <a:endParaRPr lang="en-US" sz="1300" dirty="0"/>
          </a:p>
          <a:p>
            <a:pPr marL="0" indent="0" algn="ctr">
              <a:buNone/>
            </a:pPr>
            <a:r>
              <a:rPr lang="en-US" sz="1300" dirty="0">
                <a:solidFill>
                  <a:schemeClr val="tx1"/>
                </a:solidFill>
              </a:rPr>
              <a:t>Past diagnoses, family</a:t>
            </a:r>
            <a:endParaRPr lang="en-US" sz="1300" dirty="0"/>
          </a:p>
          <a:p>
            <a:pPr marL="0" indent="0" algn="ctr">
              <a:buNone/>
            </a:pPr>
            <a:r>
              <a:rPr lang="en-US" sz="1300" dirty="0">
                <a:solidFill>
                  <a:schemeClr val="tx1"/>
                </a:solidFill>
              </a:rPr>
              <a:t>Last period, missed</a:t>
            </a:r>
            <a:endParaRPr lang="en-US" sz="1300" dirty="0"/>
          </a:p>
          <a:p>
            <a:pPr marL="0" indent="0" algn="ctr">
              <a:buNone/>
            </a:pPr>
            <a:r>
              <a:rPr lang="en-US" sz="1300" dirty="0">
                <a:solidFill>
                  <a:schemeClr val="tx1"/>
                </a:solidFill>
              </a:rPr>
              <a:t>Daily log + voice</a:t>
            </a:r>
            <a:endParaRPr lang="en-US" sz="1300" dirty="0"/>
          </a:p>
        </p:txBody>
      </p:sp>
      <p:sp>
        <p:nvSpPr>
          <p:cNvPr id="7" name="Stage arrow 1"/>
          <p:cNvSpPr/>
          <p:nvPr/>
        </p:nvSpPr>
        <p:spPr>
          <a:xfrm>
            <a:off x="2395728" y="2423160"/>
            <a:ext cx="146304" cy="256032"/>
          </a:xfrm>
          <a:prstGeom prst="rightArrow">
            <a:avLst/>
          </a:prstGeom>
          <a:solidFill>
            <a:schemeClr val="accent1"/>
          </a:solidFill>
          <a:ln w="12700">
            <a:solidFill>
              <a:schemeClr val="accent1"/>
            </a:solidFill>
            <a:prstDash val="solid"/>
          </a:ln>
        </p:spPr>
      </p:sp>
      <p:sp>
        <p:nvSpPr>
          <p:cNvPr id="8" name="Stage head 2"/>
          <p:cNvSpPr/>
          <p:nvPr/>
        </p:nvSpPr>
        <p:spPr>
          <a:xfrm>
            <a:off x="2560320" y="1234440"/>
            <a:ext cx="1920240" cy="502920"/>
          </a:xfrm>
          <a:prstGeom prst="roundRect">
            <a:avLst>
              <a:gd name="adj" fmla="val 14545"/>
            </a:avLst>
          </a:prstGeom>
          <a:solidFill>
            <a:schemeClr val="accent1"/>
          </a:solidFill>
          <a:ln w="12700">
            <a:solidFill>
              <a:schemeClr val="accent1"/>
            </a:solidFill>
            <a:prstDash val="solid"/>
          </a:ln>
        </p:spPr>
      </p:sp>
      <p:sp>
        <p:nvSpPr>
          <p:cNvPr id="9" name="Stage title 2"/>
          <p:cNvSpPr txBox="1"/>
          <p:nvPr/>
        </p:nvSpPr>
        <p:spPr>
          <a:xfrm>
            <a:off x="2560320" y="1234440"/>
            <a:ext cx="1920240" cy="502920"/>
          </a:xfrm>
          <a:prstGeom prst="rect">
            <a:avLst/>
          </a:prstGeom>
          <a:noFill/>
          <a:ln/>
        </p:spPr>
        <p:txBody>
          <a:bodyPr wrap="square" lIns="0" tIns="0" rIns="0" bIns="0" rtlCol="0" anchor="ctr"/>
          <a:lstStyle/>
          <a:p>
            <a:pPr marL="0" indent="0" algn="ctr">
              <a:buNone/>
            </a:pPr>
            <a:r>
              <a:rPr lang="en-US" sz="1500" b="1" dirty="0">
                <a:solidFill>
                  <a:schemeClr val="bg1"/>
                </a:solidFill>
              </a:rPr>
              <a:t>Cycle engine</a:t>
            </a:r>
            <a:endParaRPr lang="en-US" sz="1500" dirty="0"/>
          </a:p>
        </p:txBody>
      </p:sp>
      <p:sp>
        <p:nvSpPr>
          <p:cNvPr id="10" name="Stage card 2"/>
          <p:cNvSpPr/>
          <p:nvPr/>
        </p:nvSpPr>
        <p:spPr>
          <a:xfrm>
            <a:off x="2560320" y="1783080"/>
            <a:ext cx="1920240" cy="1600200"/>
          </a:xfrm>
          <a:prstGeom prst="roundRect">
            <a:avLst>
              <a:gd name="adj" fmla="val 6857"/>
            </a:avLst>
          </a:prstGeom>
          <a:solidFill>
            <a:schemeClr val="bg2"/>
          </a:solidFill>
          <a:ln w="12700">
            <a:solidFill>
              <a:schemeClr val="accent5"/>
            </a:solidFill>
            <a:prstDash val="solid"/>
          </a:ln>
        </p:spPr>
      </p:sp>
      <p:sp>
        <p:nvSpPr>
          <p:cNvPr id="11" name="Stage text 2"/>
          <p:cNvSpPr txBox="1"/>
          <p:nvPr/>
        </p:nvSpPr>
        <p:spPr>
          <a:xfrm>
            <a:off x="2697480" y="1874520"/>
            <a:ext cx="1645920" cy="1417320"/>
          </a:xfrm>
          <a:prstGeom prst="rect">
            <a:avLst/>
          </a:prstGeom>
          <a:noFill/>
          <a:ln/>
        </p:spPr>
        <p:txBody>
          <a:bodyPr wrap="square" lIns="0" tIns="0" rIns="0" bIns="0" rtlCol="0" anchor="ctr"/>
          <a:lstStyle/>
          <a:p>
            <a:pPr marL="0" indent="0" algn="ctr">
              <a:buNone/>
            </a:pPr>
            <a:r>
              <a:rPr lang="en-US" sz="1300" dirty="0">
                <a:solidFill>
                  <a:schemeClr val="tx1"/>
                </a:solidFill>
              </a:rPr>
              <a:t>Cycle day and phase</a:t>
            </a:r>
            <a:endParaRPr lang="en-US" sz="1300" dirty="0"/>
          </a:p>
          <a:p>
            <a:pPr marL="0" indent="0" algn="ctr">
              <a:buNone/>
            </a:pPr>
            <a:r>
              <a:rPr lang="en-US" sz="1300" dirty="0">
                <a:solidFill>
                  <a:schemeClr val="tx1"/>
                </a:solidFill>
              </a:rPr>
              <a:t>Cycle lengths from</a:t>
            </a:r>
            <a:endParaRPr lang="en-US" sz="1300" dirty="0"/>
          </a:p>
          <a:p>
            <a:pPr marL="0" indent="0" algn="ctr">
              <a:buNone/>
            </a:pPr>
            <a:r>
              <a:rPr lang="en-US" sz="1300" dirty="0">
                <a:solidFill>
                  <a:schemeClr val="tx1"/>
                </a:solidFill>
              </a:rPr>
              <a:t>all period starts</a:t>
            </a:r>
            <a:endParaRPr lang="en-US" sz="1300" dirty="0"/>
          </a:p>
          <a:p>
            <a:pPr marL="0" indent="0" algn="ctr">
              <a:buNone/>
            </a:pPr>
            <a:r>
              <a:rPr lang="en-US" sz="1300" dirty="0">
                <a:solidFill>
                  <a:schemeClr val="tx1"/>
                </a:solidFill>
              </a:rPr>
              <a:t>Gaps over 45 days</a:t>
            </a:r>
            <a:endParaRPr lang="en-US" sz="1300" dirty="0"/>
          </a:p>
        </p:txBody>
      </p:sp>
      <p:sp>
        <p:nvSpPr>
          <p:cNvPr id="12" name="Stage arrow 2"/>
          <p:cNvSpPr/>
          <p:nvPr/>
        </p:nvSpPr>
        <p:spPr>
          <a:xfrm>
            <a:off x="4498848" y="2423160"/>
            <a:ext cx="146304" cy="256032"/>
          </a:xfrm>
          <a:prstGeom prst="rightArrow">
            <a:avLst/>
          </a:prstGeom>
          <a:solidFill>
            <a:schemeClr val="accent1"/>
          </a:solidFill>
          <a:ln w="12700">
            <a:solidFill>
              <a:schemeClr val="accent1"/>
            </a:solidFill>
            <a:prstDash val="solid"/>
          </a:ln>
        </p:spPr>
      </p:sp>
      <p:sp>
        <p:nvSpPr>
          <p:cNvPr id="13" name="Stage head 3"/>
          <p:cNvSpPr/>
          <p:nvPr/>
        </p:nvSpPr>
        <p:spPr>
          <a:xfrm>
            <a:off x="4663440" y="1234440"/>
            <a:ext cx="1920240" cy="502920"/>
          </a:xfrm>
          <a:prstGeom prst="roundRect">
            <a:avLst>
              <a:gd name="adj" fmla="val 14545"/>
            </a:avLst>
          </a:prstGeom>
          <a:solidFill>
            <a:schemeClr val="accent1"/>
          </a:solidFill>
          <a:ln w="12700">
            <a:solidFill>
              <a:schemeClr val="accent1"/>
            </a:solidFill>
            <a:prstDash val="solid"/>
          </a:ln>
        </p:spPr>
      </p:sp>
      <p:sp>
        <p:nvSpPr>
          <p:cNvPr id="14" name="Stage title 3"/>
          <p:cNvSpPr txBox="1"/>
          <p:nvPr/>
        </p:nvSpPr>
        <p:spPr>
          <a:xfrm>
            <a:off x="4663440" y="1234440"/>
            <a:ext cx="1920240" cy="502920"/>
          </a:xfrm>
          <a:prstGeom prst="rect">
            <a:avLst/>
          </a:prstGeom>
          <a:noFill/>
          <a:ln/>
        </p:spPr>
        <p:txBody>
          <a:bodyPr wrap="square" lIns="0" tIns="0" rIns="0" bIns="0" rtlCol="0" anchor="ctr"/>
          <a:lstStyle/>
          <a:p>
            <a:pPr marL="0" indent="0" algn="ctr">
              <a:buNone/>
            </a:pPr>
            <a:r>
              <a:rPr lang="en-US" sz="1500" b="1" dirty="0">
                <a:solidFill>
                  <a:schemeClr val="bg1"/>
                </a:solidFill>
              </a:rPr>
              <a:t>Age rules</a:t>
            </a:r>
            <a:endParaRPr lang="en-US" sz="1500" dirty="0"/>
          </a:p>
        </p:txBody>
      </p:sp>
      <p:sp>
        <p:nvSpPr>
          <p:cNvPr id="15" name="Stage card 3"/>
          <p:cNvSpPr/>
          <p:nvPr/>
        </p:nvSpPr>
        <p:spPr>
          <a:xfrm>
            <a:off x="4663440" y="1783080"/>
            <a:ext cx="1920240" cy="1600200"/>
          </a:xfrm>
          <a:prstGeom prst="roundRect">
            <a:avLst>
              <a:gd name="adj" fmla="val 6857"/>
            </a:avLst>
          </a:prstGeom>
          <a:solidFill>
            <a:schemeClr val="bg2"/>
          </a:solidFill>
          <a:ln w="12700">
            <a:solidFill>
              <a:schemeClr val="accent5"/>
            </a:solidFill>
            <a:prstDash val="solid"/>
          </a:ln>
        </p:spPr>
      </p:sp>
      <p:sp>
        <p:nvSpPr>
          <p:cNvPr id="16" name="Stage text 3"/>
          <p:cNvSpPr txBox="1"/>
          <p:nvPr/>
        </p:nvSpPr>
        <p:spPr>
          <a:xfrm>
            <a:off x="4800600" y="1874520"/>
            <a:ext cx="1645920" cy="1417320"/>
          </a:xfrm>
          <a:prstGeom prst="rect">
            <a:avLst/>
          </a:prstGeom>
          <a:noFill/>
          <a:ln/>
        </p:spPr>
        <p:txBody>
          <a:bodyPr wrap="square" lIns="0" tIns="0" rIns="0" bIns="0" rtlCol="0" anchor="ctr"/>
          <a:lstStyle/>
          <a:p>
            <a:pPr marL="0" indent="0" algn="ctr">
              <a:buNone/>
            </a:pPr>
            <a:r>
              <a:rPr lang="en-US" sz="1300" dirty="0">
                <a:solidFill>
                  <a:schemeClr val="tx1"/>
                </a:solidFill>
              </a:rPr>
              <a:t>First 2 yrs of periods:</a:t>
            </a:r>
            <a:endParaRPr lang="en-US" sz="1300" dirty="0"/>
          </a:p>
          <a:p>
            <a:pPr marL="0" indent="0" algn="ctr">
              <a:buNone/>
            </a:pPr>
            <a:r>
              <a:rPr lang="en-US" sz="1300" dirty="0">
                <a:solidFill>
                  <a:schemeClr val="tx1"/>
                </a:solidFill>
              </a:rPr>
              <a:t>no PCOS from cycles</a:t>
            </a:r>
            <a:endParaRPr lang="en-US" sz="1300" dirty="0"/>
          </a:p>
          <a:p>
            <a:pPr marL="0" indent="0" algn="ctr">
              <a:buNone/>
            </a:pPr>
            <a:r>
              <a:rPr lang="en-US" sz="1300" dirty="0">
                <a:solidFill>
                  <a:schemeClr val="tx1"/>
                </a:solidFill>
              </a:rPr>
              <a:t>40+: perimenopause</a:t>
            </a:r>
            <a:endParaRPr lang="en-US" sz="1300" dirty="0"/>
          </a:p>
          <a:p>
            <a:pPr marL="0" indent="0" algn="ctr">
              <a:buNone/>
            </a:pPr>
            <a:r>
              <a:rPr lang="en-US" sz="1300" dirty="0">
                <a:solidFill>
                  <a:schemeClr val="tx1"/>
                </a:solidFill>
              </a:rPr>
              <a:t>45+: no PCOS flag</a:t>
            </a:r>
            <a:endParaRPr lang="en-US" sz="1300" dirty="0"/>
          </a:p>
        </p:txBody>
      </p:sp>
      <p:sp>
        <p:nvSpPr>
          <p:cNvPr id="17" name="Stage arrow 3"/>
          <p:cNvSpPr/>
          <p:nvPr/>
        </p:nvSpPr>
        <p:spPr>
          <a:xfrm>
            <a:off x="6601968" y="2423160"/>
            <a:ext cx="146304" cy="256032"/>
          </a:xfrm>
          <a:prstGeom prst="rightArrow">
            <a:avLst/>
          </a:prstGeom>
          <a:solidFill>
            <a:schemeClr val="accent1"/>
          </a:solidFill>
          <a:ln w="12700">
            <a:solidFill>
              <a:schemeClr val="accent1"/>
            </a:solidFill>
            <a:prstDash val="solid"/>
          </a:ln>
        </p:spPr>
      </p:sp>
      <p:sp>
        <p:nvSpPr>
          <p:cNvPr id="18" name="Stage head 4"/>
          <p:cNvSpPr/>
          <p:nvPr/>
        </p:nvSpPr>
        <p:spPr>
          <a:xfrm>
            <a:off x="6766560" y="1234440"/>
            <a:ext cx="1920240" cy="502920"/>
          </a:xfrm>
          <a:prstGeom prst="roundRect">
            <a:avLst>
              <a:gd name="adj" fmla="val 14545"/>
            </a:avLst>
          </a:prstGeom>
          <a:solidFill>
            <a:schemeClr val="accent1"/>
          </a:solidFill>
          <a:ln w="12700">
            <a:solidFill>
              <a:schemeClr val="accent1"/>
            </a:solidFill>
            <a:prstDash val="solid"/>
          </a:ln>
        </p:spPr>
      </p:sp>
      <p:sp>
        <p:nvSpPr>
          <p:cNvPr id="19" name="Stage title 4"/>
          <p:cNvSpPr txBox="1"/>
          <p:nvPr/>
        </p:nvSpPr>
        <p:spPr>
          <a:xfrm>
            <a:off x="6766560" y="1234440"/>
            <a:ext cx="1920240" cy="502920"/>
          </a:xfrm>
          <a:prstGeom prst="rect">
            <a:avLst/>
          </a:prstGeom>
          <a:noFill/>
          <a:ln/>
        </p:spPr>
        <p:txBody>
          <a:bodyPr wrap="square" lIns="0" tIns="0" rIns="0" bIns="0" rtlCol="0" anchor="ctr"/>
          <a:lstStyle/>
          <a:p>
            <a:pPr marL="0" indent="0" algn="ctr">
              <a:buNone/>
            </a:pPr>
            <a:r>
              <a:rPr lang="en-US" sz="1500" b="1" dirty="0">
                <a:solidFill>
                  <a:schemeClr val="bg1"/>
                </a:solidFill>
              </a:rPr>
              <a:t>Outputs</a:t>
            </a:r>
            <a:endParaRPr lang="en-US" sz="1500" dirty="0"/>
          </a:p>
        </p:txBody>
      </p:sp>
      <p:sp>
        <p:nvSpPr>
          <p:cNvPr id="20" name="Stage card 4"/>
          <p:cNvSpPr/>
          <p:nvPr/>
        </p:nvSpPr>
        <p:spPr>
          <a:xfrm>
            <a:off x="6766560" y="1783080"/>
            <a:ext cx="1920240" cy="1600200"/>
          </a:xfrm>
          <a:prstGeom prst="roundRect">
            <a:avLst>
              <a:gd name="adj" fmla="val 6857"/>
            </a:avLst>
          </a:prstGeom>
          <a:solidFill>
            <a:schemeClr val="bg2"/>
          </a:solidFill>
          <a:ln w="12700">
            <a:solidFill>
              <a:schemeClr val="accent5"/>
            </a:solidFill>
            <a:prstDash val="solid"/>
          </a:ln>
        </p:spPr>
      </p:sp>
      <p:sp>
        <p:nvSpPr>
          <p:cNvPr id="21" name="Stage text 4"/>
          <p:cNvSpPr txBox="1"/>
          <p:nvPr/>
        </p:nvSpPr>
        <p:spPr>
          <a:xfrm>
            <a:off x="6903720" y="1874520"/>
            <a:ext cx="1645920" cy="1417320"/>
          </a:xfrm>
          <a:prstGeom prst="rect">
            <a:avLst/>
          </a:prstGeom>
          <a:noFill/>
          <a:ln/>
        </p:spPr>
        <p:txBody>
          <a:bodyPr wrap="square" lIns="0" tIns="0" rIns="0" bIns="0" rtlCol="0" anchor="ctr"/>
          <a:lstStyle/>
          <a:p>
            <a:pPr marL="0" indent="0" algn="ctr">
              <a:buNone/>
            </a:pPr>
            <a:r>
              <a:rPr lang="en-US" sz="1300" dirty="0">
                <a:solidFill>
                  <a:schemeClr val="tx1"/>
                </a:solidFill>
              </a:rPr>
              <a:t>Pattern cards with</a:t>
            </a:r>
            <a:endParaRPr lang="en-US" sz="1300" dirty="0"/>
          </a:p>
          <a:p>
            <a:pPr marL="0" indent="0" algn="ctr">
              <a:buNone/>
            </a:pPr>
            <a:r>
              <a:rPr lang="en-US" sz="1300" dirty="0">
                <a:solidFill>
                  <a:schemeClr val="tx1"/>
                </a:solidFill>
              </a:rPr>
              <a:t>matched signs</a:t>
            </a:r>
            <a:endParaRPr lang="en-US" sz="1300" dirty="0"/>
          </a:p>
          <a:p>
            <a:pPr marL="0" indent="0" algn="ctr">
              <a:buNone/>
            </a:pPr>
            <a:r>
              <a:rPr lang="en-US" sz="1300" dirty="0">
                <a:solidFill>
                  <a:schemeClr val="tx1"/>
                </a:solidFill>
              </a:rPr>
              <a:t>Early-read note</a:t>
            </a:r>
            <a:endParaRPr lang="en-US" sz="1300" dirty="0"/>
          </a:p>
          <a:p>
            <a:pPr marL="0" indent="0" algn="ctr">
              <a:buNone/>
            </a:pPr>
            <a:r>
              <a:rPr lang="en-US" sz="1300" dirty="0">
                <a:solidFill>
                  <a:schemeClr val="tx1"/>
                </a:solidFill>
              </a:rPr>
              <a:t>Doctor report</a:t>
            </a:r>
            <a:endParaRPr lang="en-US" sz="1300" dirty="0"/>
          </a:p>
        </p:txBody>
      </p:sp>
      <p:sp>
        <p:nvSpPr>
          <p:cNvPr id="22" name="Approach notes"/>
          <p:cNvSpPr txBox="1"/>
          <p:nvPr/>
        </p:nvSpPr>
        <p:spPr>
          <a:xfrm>
            <a:off x="457200" y="3566160"/>
            <a:ext cx="822960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Insights default to the current cycle (from day 1); a toggle shows all logged days.</a:t>
            </a:r>
            <a:endParaRPr lang="en-US" sz="1300" dirty="0"/>
          </a:p>
          <a:p>
            <a:pPr marL="342900" indent="-342900">
              <a:spcAft>
                <a:spcPts val="400"/>
              </a:spcAft>
              <a:buSzPct val="100000"/>
              <a:buChar char="•"/>
            </a:pPr>
            <a:r>
              <a:rPr lang="en-US" sz="1300" dirty="0">
                <a:solidFill>
                  <a:schemeClr val="tx1"/>
                </a:solidFill>
              </a:rPr>
              <a:t>"Not sure" answers are never guessed. Under 7 logged days shows an early-read note.</a:t>
            </a:r>
            <a:endParaRPr lang="en-US" sz="1300" dirty="0"/>
          </a:p>
          <a:p>
            <a:pPr marL="342900" indent="-342900">
              <a:buSzPct val="100000"/>
              <a:buChar char="•"/>
            </a:pPr>
            <a:r>
              <a:rPr lang="en-US" sz="1300" dirty="0">
                <a:solidFill>
                  <a:schemeClr val="tx1"/>
                </a:solidFill>
              </a:rPr>
              <a:t>Plain JavaScript, rule-based and explainable. No ML model, because no labelled medical dataset exists and a black box would be unsafe.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Insights you can verify</a:t>
            </a:r>
            <a:endParaRPr lang="en-US" sz="3200" dirty="0"/>
          </a:p>
        </p:txBody>
      </p:sp>
      <p:graphicFrame>
        <p:nvGraphicFramePr>
          <p:cNvPr id="8" name="Rules table"/>
          <p:cNvGraphicFramePr>
            <a:graphicFrameLocks noGrp="1"/>
          </p:cNvGraphicFramePr>
          <p:nvPr>
            <p:extLst>
              <p:ext uri="{D42A27DB-BD31-4B8C-83A1-F6EECF244321}">
                <p14:modId xmlns:p14="http://schemas.microsoft.com/office/powerpoint/2010/main" val="1579011935"/>
              </p:ext>
            </p:extLst>
          </p:nvPr>
        </p:nvGraphicFramePr>
        <p:xfrm>
          <a:off x="457200" y="1188720"/>
          <a:ext cx="5394960" cy="3749040"/>
        </p:xfrm>
        <a:graphic>
          <a:graphicData uri="http://schemas.openxmlformats.org/drawingml/2006/table">
            <a:tbl>
              <a:tblPr/>
              <a:tblGrid>
                <a:gridCol w="15544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365760">
                <a:tc>
                  <a:txBody>
                    <a:bodyPr/>
                    <a:lstStyle/>
                    <a:p>
                      <a:pPr marL="0" indent="0">
                        <a:buNone/>
                      </a:pPr>
                      <a:r>
                        <a:rPr lang="en-US" sz="1300" b="1" dirty="0">
                          <a:solidFill>
                            <a:schemeClr val="bg1"/>
                          </a:solidFill>
                        </a:rPr>
                        <a:t>Pattern</a:t>
                      </a:r>
                      <a:endParaRPr lang="en-US" sz="13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Flagged when</a:t>
                      </a:r>
                      <a:endParaRPr lang="en-US" sz="13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85800">
                <a:tc>
                  <a:txBody>
                    <a:bodyPr/>
                    <a:lstStyle/>
                    <a:p>
                      <a:pPr marL="0" indent="0">
                        <a:buNone/>
                      </a:pPr>
                      <a:r>
                        <a:rPr lang="en-US" sz="1200" b="1" dirty="0">
                          <a:solidFill>
                            <a:schemeClr val="tx2"/>
                          </a:solidFill>
                        </a:rPr>
                        <a:t>PCOS / hormonal</a:t>
                      </a:r>
                      <a:endParaRPr lang="en-US" sz="12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Under 45, after the first 2 years of periods: irregular cycles, missed months or a long gap, plus acne, excess hair, hair loss or weight gain</a:t>
                      </a:r>
                      <a:endParaRPr lang="en-US" sz="12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48640">
                <a:tc>
                  <a:txBody>
                    <a:bodyPr/>
                    <a:lstStyle/>
                    <a:p>
                      <a:pPr marL="0" indent="0">
                        <a:buNone/>
                      </a:pPr>
                      <a:r>
                        <a:rPr lang="en-US" sz="1200" b="1" dirty="0">
                          <a:solidFill>
                            <a:schemeClr val="tx2"/>
                          </a:solidFill>
                        </a:rPr>
                        <a:t>Anaemia</a:t>
                      </a:r>
                      <a:endParaRPr lang="en-US" sz="12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Frequent fatigue, plus heavy flow, dizziness, pale skin or low energy</a:t>
                      </a:r>
                      <a:endParaRPr lang="en-US" sz="12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48640">
                <a:tc>
                  <a:txBody>
                    <a:bodyPr/>
                    <a:lstStyle/>
                    <a:p>
                      <a:pPr marL="0" indent="0">
                        <a:buNone/>
                      </a:pPr>
                      <a:r>
                        <a:rPr lang="en-US" sz="1200" b="1" dirty="0">
                          <a:solidFill>
                            <a:schemeClr val="tx2"/>
                          </a:solidFill>
                        </a:rPr>
                        <a:t>Severe pain</a:t>
                      </a:r>
                      <a:endParaRPr lang="en-US" sz="12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Pain 7/10 or more on 2+ days, plus painful periods or pelvic pain</a:t>
                      </a:r>
                      <a:endParaRPr lang="en-US" sz="12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indent="0">
                        <a:buNone/>
                      </a:pPr>
                      <a:r>
                        <a:rPr lang="en-US" sz="1200" b="1" dirty="0">
                          <a:solidFill>
                            <a:schemeClr val="tx2"/>
                          </a:solidFill>
                        </a:rPr>
                        <a:t>Thyroid</a:t>
                      </a:r>
                      <a:endParaRPr lang="en-US" sz="12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4 or more related symptoms occur often</a:t>
                      </a:r>
                      <a:endParaRPr lang="en-US" sz="12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94360">
                <a:tc>
                  <a:txBody>
                    <a:bodyPr/>
                    <a:lstStyle/>
                    <a:p>
                      <a:pPr marL="0" indent="0">
                        <a:buNone/>
                      </a:pPr>
                      <a:r>
                        <a:rPr lang="en-US" sz="1200" b="1" dirty="0">
                          <a:solidFill>
                            <a:schemeClr val="tx2"/>
                          </a:solidFill>
                        </a:rPr>
                        <a:t>Early-cycle years</a:t>
                      </a:r>
                      <a:endParaRPr lang="en-US" sz="12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First 2 years of periods: cycles under 21 or over 45 days, 3+ missed months, severe pain or heavy bleeding</a:t>
                      </a:r>
                      <a:endParaRPr lang="en-US" sz="12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94360">
                <a:tc>
                  <a:txBody>
                    <a:bodyPr/>
                    <a:lstStyle/>
                    <a:p>
                      <a:pPr marL="0" indent="0">
                        <a:buNone/>
                      </a:pPr>
                      <a:r>
                        <a:rPr lang="en-US" sz="1200" b="1" dirty="0">
                          <a:solidFill>
                            <a:schemeClr val="tx2"/>
                          </a:solidFill>
                        </a:rPr>
                        <a:t>Perimenopause (40+)</a:t>
                      </a:r>
                      <a:endParaRPr lang="en-US" sz="12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Changing cycles or 12 months without a period, plus hot flushes, poor sleep or mood changes</a:t>
                      </a:r>
                      <a:endParaRPr lang="en-US" sz="12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Principles card"/>
          <p:cNvSpPr/>
          <p:nvPr/>
        </p:nvSpPr>
        <p:spPr>
          <a:xfrm>
            <a:off x="6080760" y="1188720"/>
            <a:ext cx="2606040" cy="3200400"/>
          </a:xfrm>
          <a:prstGeom prst="roundRect">
            <a:avLst>
              <a:gd name="adj" fmla="val 4211"/>
            </a:avLst>
          </a:prstGeom>
          <a:solidFill>
            <a:schemeClr val="bg2"/>
          </a:solidFill>
          <a:ln w="12700">
            <a:solidFill>
              <a:schemeClr val="accent5"/>
            </a:solidFill>
            <a:prstDash val="solid"/>
          </a:ln>
        </p:spPr>
      </p:sp>
      <p:sp>
        <p:nvSpPr>
          <p:cNvPr id="5" name="Principles title"/>
          <p:cNvSpPr txBox="1"/>
          <p:nvPr/>
        </p:nvSpPr>
        <p:spPr>
          <a:xfrm>
            <a:off x="6263640" y="1325880"/>
            <a:ext cx="2286000" cy="365760"/>
          </a:xfrm>
          <a:prstGeom prst="rect">
            <a:avLst/>
          </a:prstGeom>
          <a:noFill/>
          <a:ln/>
        </p:spPr>
        <p:txBody>
          <a:bodyPr wrap="square" lIns="0" tIns="0" rIns="0" bIns="0" rtlCol="0" anchor="t"/>
          <a:lstStyle/>
          <a:p>
            <a:pPr marL="0" indent="0">
              <a:buNone/>
            </a:pPr>
            <a:r>
              <a:rPr lang="en-US" sz="1800" b="1" dirty="0">
                <a:solidFill>
                  <a:schemeClr val="tx2"/>
                </a:solidFill>
              </a:rPr>
              <a:t>Not a diagnosis</a:t>
            </a:r>
            <a:endParaRPr lang="en-US" sz="1800" dirty="0"/>
          </a:p>
        </p:txBody>
      </p:sp>
      <p:sp>
        <p:nvSpPr>
          <p:cNvPr id="6" name="Principles list"/>
          <p:cNvSpPr txBox="1"/>
          <p:nvPr/>
        </p:nvSpPr>
        <p:spPr>
          <a:xfrm>
            <a:off x="6263640" y="1783080"/>
            <a:ext cx="2286000" cy="2514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Shows which signs matched</a:t>
            </a:r>
            <a:endParaRPr lang="en-US" sz="1300" dirty="0"/>
          </a:p>
          <a:p>
            <a:pPr marL="342900" indent="-342900">
              <a:spcAft>
                <a:spcPts val="600"/>
              </a:spcAft>
              <a:buSzPct val="100000"/>
              <a:buChar char="•"/>
            </a:pPr>
            <a:r>
              <a:rPr lang="en-US" sz="1300" dirty="0">
                <a:solidFill>
                  <a:schemeClr val="tx1"/>
                </a:solidFill>
              </a:rPr>
              <a:t>Lists tests doctors commonly consider</a:t>
            </a:r>
            <a:endParaRPr lang="en-US" sz="1300" dirty="0"/>
          </a:p>
          <a:p>
            <a:pPr marL="342900" indent="-342900">
              <a:spcAft>
                <a:spcPts val="600"/>
              </a:spcAft>
              <a:buSzPct val="100000"/>
              <a:buChar char="•"/>
            </a:pPr>
            <a:r>
              <a:rPr lang="en-US" sz="1300" dirty="0">
                <a:solidFill>
                  <a:schemeClr val="tx1"/>
                </a:solidFill>
              </a:rPr>
              <a:t>Warns about red-flag symptoms</a:t>
            </a:r>
            <a:endParaRPr lang="en-US" sz="1300" dirty="0"/>
          </a:p>
          <a:p>
            <a:pPr marL="342900" indent="-342900">
              <a:buSzPct val="100000"/>
              <a:buChar char="•"/>
            </a:pPr>
            <a:r>
              <a:rPr lang="en-US" sz="1300" dirty="0">
                <a:solidFill>
                  <a:schemeClr val="tx1"/>
                </a:solidFill>
              </a:rPr>
              <a:t>Thresholds are heuristics from published guidelines, not clinically validated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System architecture</a:t>
            </a:r>
            <a:endParaRPr lang="en-US" sz="3200" dirty="0"/>
          </a:p>
        </p:txBody>
      </p:sp>
      <p:sp>
        <p:nvSpPr>
          <p:cNvPr id="3" name="Layer user"/>
          <p:cNvSpPr/>
          <p:nvPr/>
        </p:nvSpPr>
        <p:spPr>
          <a:xfrm>
            <a:off x="457200" y="1188720"/>
            <a:ext cx="5486400" cy="502920"/>
          </a:xfrm>
          <a:prstGeom prst="roundRect">
            <a:avLst>
              <a:gd name="adj" fmla="val 14545"/>
            </a:avLst>
          </a:prstGeom>
          <a:solidFill>
            <a:schemeClr val="bg2"/>
          </a:solidFill>
          <a:ln w="12700">
            <a:solidFill>
              <a:schemeClr val="accent5"/>
            </a:solidFill>
            <a:prstDash val="solid"/>
          </a:ln>
        </p:spPr>
      </p:sp>
      <p:sp>
        <p:nvSpPr>
          <p:cNvPr id="4" name="Layer user text"/>
          <p:cNvSpPr txBox="1"/>
          <p:nvPr/>
        </p:nvSpPr>
        <p:spPr>
          <a:xfrm>
            <a:off x="502920" y="1188720"/>
            <a:ext cx="5394960" cy="502920"/>
          </a:xfrm>
          <a:prstGeom prst="rect">
            <a:avLst/>
          </a:prstGeom>
          <a:noFill/>
          <a:ln/>
        </p:spPr>
        <p:txBody>
          <a:bodyPr wrap="square" lIns="0" tIns="0" rIns="0" bIns="0" rtlCol="0" anchor="ctr"/>
          <a:lstStyle/>
          <a:p>
            <a:pPr marL="0" indent="0" algn="ctr">
              <a:buNone/>
            </a:pPr>
            <a:r>
              <a:rPr lang="en-US" sz="1300" b="1" dirty="0">
                <a:solidFill>
                  <a:schemeClr val="tx2"/>
                </a:solidFill>
              </a:rPr>
              <a:t>User (phone or laptop browser, no install)</a:t>
            </a:r>
            <a:endParaRPr lang="en-US" sz="1300" dirty="0"/>
          </a:p>
        </p:txBody>
      </p:sp>
      <p:sp>
        <p:nvSpPr>
          <p:cNvPr id="5" name="Layer ui"/>
          <p:cNvSpPr/>
          <p:nvPr/>
        </p:nvSpPr>
        <p:spPr>
          <a:xfrm>
            <a:off x="457200" y="1828800"/>
            <a:ext cx="5486400" cy="548640"/>
          </a:xfrm>
          <a:prstGeom prst="roundRect">
            <a:avLst>
              <a:gd name="adj" fmla="val 13333"/>
            </a:avLst>
          </a:prstGeom>
          <a:solidFill>
            <a:schemeClr val="accent1"/>
          </a:solidFill>
          <a:ln w="12700">
            <a:solidFill>
              <a:schemeClr val="accent5"/>
            </a:solidFill>
            <a:prstDash val="solid"/>
          </a:ln>
        </p:spPr>
      </p:sp>
      <p:sp>
        <p:nvSpPr>
          <p:cNvPr id="6" name="Layer ui text"/>
          <p:cNvSpPr txBox="1"/>
          <p:nvPr/>
        </p:nvSpPr>
        <p:spPr>
          <a:xfrm>
            <a:off x="502920" y="1828800"/>
            <a:ext cx="5394960" cy="548640"/>
          </a:xfrm>
          <a:prstGeom prst="rect">
            <a:avLst/>
          </a:prstGeom>
          <a:noFill/>
          <a:ln/>
        </p:spPr>
        <p:txBody>
          <a:bodyPr wrap="square" lIns="0" tIns="0" rIns="0" bIns="0" rtlCol="0" anchor="ctr"/>
          <a:lstStyle/>
          <a:p>
            <a:pPr marL="0" indent="0" algn="ctr">
              <a:buNone/>
            </a:pPr>
            <a:r>
              <a:rPr lang="en-US" sz="1200" b="1" dirty="0">
                <a:solidFill>
                  <a:schemeClr val="bg1"/>
                </a:solidFill>
              </a:rPr>
              <a:t>Presentation: Log · Insights · Doctor report · Privacy</a:t>
            </a:r>
            <a:endParaRPr lang="en-US" sz="1200" dirty="0"/>
          </a:p>
          <a:p>
            <a:pPr marL="0" indent="0" algn="ctr">
              <a:buNone/>
            </a:pPr>
            <a:r>
              <a:rPr lang="en-US" sz="1200" b="1" dirty="0">
                <a:solidFill>
                  <a:schemeClr val="bg1"/>
                </a:solidFill>
              </a:rPr>
              <a:t>(English + Kannada, 3 text sizes, accessible)</a:t>
            </a:r>
            <a:endParaRPr lang="en-US" sz="1200" dirty="0"/>
          </a:p>
        </p:txBody>
      </p:sp>
      <p:sp>
        <p:nvSpPr>
          <p:cNvPr id="7" name="Layer logic"/>
          <p:cNvSpPr/>
          <p:nvPr/>
        </p:nvSpPr>
        <p:spPr>
          <a:xfrm>
            <a:off x="457200" y="2514600"/>
            <a:ext cx="5486400" cy="548640"/>
          </a:xfrm>
          <a:prstGeom prst="roundRect">
            <a:avLst>
              <a:gd name="adj" fmla="val 13333"/>
            </a:avLst>
          </a:prstGeom>
          <a:solidFill>
            <a:schemeClr val="accent4"/>
          </a:solidFill>
          <a:ln w="12700">
            <a:solidFill>
              <a:schemeClr val="accent5"/>
            </a:solidFill>
            <a:prstDash val="solid"/>
          </a:ln>
        </p:spPr>
      </p:sp>
      <p:sp>
        <p:nvSpPr>
          <p:cNvPr id="8" name="Layer logic text"/>
          <p:cNvSpPr txBox="1"/>
          <p:nvPr/>
        </p:nvSpPr>
        <p:spPr>
          <a:xfrm>
            <a:off x="502920" y="2514600"/>
            <a:ext cx="5394960" cy="548640"/>
          </a:xfrm>
          <a:prstGeom prst="rect">
            <a:avLst/>
          </a:prstGeom>
          <a:noFill/>
          <a:ln/>
        </p:spPr>
        <p:txBody>
          <a:bodyPr wrap="square" lIns="0" tIns="0" rIns="0" bIns="0" rtlCol="0" anchor="ctr"/>
          <a:lstStyle/>
          <a:p>
            <a:pPr marL="0" indent="0" algn="ctr">
              <a:buNone/>
            </a:pPr>
            <a:r>
              <a:rPr lang="en-US" sz="1200" b="1" dirty="0">
                <a:solidFill>
                  <a:schemeClr val="bg1"/>
                </a:solidFill>
              </a:rPr>
              <a:t>Logic: analyze() rules · cycleInfo() · Voice.match()</a:t>
            </a:r>
            <a:endParaRPr lang="en-US" sz="1200" dirty="0"/>
          </a:p>
          <a:p>
            <a:pPr marL="0" indent="0" algn="ctr">
              <a:buNone/>
            </a:pPr>
            <a:r>
              <a:rPr lang="en-US" sz="1200" b="1" dirty="0">
                <a:solidFill>
                  <a:schemeClr val="bg1"/>
                </a:solidFill>
              </a:rPr>
              <a:t>Auth (Web Crypto PBKDF2) · i18n dictionaries</a:t>
            </a:r>
            <a:endParaRPr lang="en-US" sz="1200" dirty="0"/>
          </a:p>
        </p:txBody>
      </p:sp>
      <p:sp>
        <p:nvSpPr>
          <p:cNvPr id="9" name="Storage"/>
          <p:cNvSpPr/>
          <p:nvPr/>
        </p:nvSpPr>
        <p:spPr>
          <a:xfrm>
            <a:off x="457200" y="3200400"/>
            <a:ext cx="2651760" cy="685800"/>
          </a:xfrm>
          <a:prstGeom prst="roundRect">
            <a:avLst>
              <a:gd name="adj" fmla="val 10667"/>
            </a:avLst>
          </a:prstGeom>
          <a:solidFill>
            <a:schemeClr val="bg2"/>
          </a:solidFill>
          <a:ln w="12700">
            <a:solidFill>
              <a:schemeClr val="accent5"/>
            </a:solidFill>
            <a:prstDash val="solid"/>
          </a:ln>
        </p:spPr>
      </p:sp>
      <p:sp>
        <p:nvSpPr>
          <p:cNvPr id="10" name="Storage text"/>
          <p:cNvSpPr txBox="1"/>
          <p:nvPr/>
        </p:nvSpPr>
        <p:spPr>
          <a:xfrm>
            <a:off x="502920" y="3200400"/>
            <a:ext cx="2560320" cy="685800"/>
          </a:xfrm>
          <a:prstGeom prst="rect">
            <a:avLst/>
          </a:prstGeom>
          <a:noFill/>
          <a:ln/>
        </p:spPr>
        <p:txBody>
          <a:bodyPr wrap="square" lIns="0" tIns="0" rIns="0" bIns="0" rtlCol="0" anchor="ctr"/>
          <a:lstStyle/>
          <a:p>
            <a:pPr marL="0" indent="0" algn="ctr">
              <a:buNone/>
            </a:pPr>
            <a:r>
              <a:rPr lang="en-US" sz="1200" b="1" dirty="0">
                <a:solidFill>
                  <a:schemeClr val="tx1"/>
                </a:solidFill>
              </a:rPr>
              <a:t>localStorage per account:</a:t>
            </a:r>
            <a:endParaRPr lang="en-US" sz="1200" dirty="0"/>
          </a:p>
          <a:p>
            <a:pPr marL="0" indent="0" algn="ctr">
              <a:buNone/>
            </a:pPr>
            <a:r>
              <a:rPr lang="en-US" sz="1200" b="1" dirty="0">
                <a:solidFill>
                  <a:schemeClr val="tx1"/>
                </a:solidFill>
              </a:rPr>
              <a:t>entries · profile · last period</a:t>
            </a:r>
            <a:endParaRPr lang="en-US" sz="1200" dirty="0"/>
          </a:p>
        </p:txBody>
      </p:sp>
      <p:sp>
        <p:nvSpPr>
          <p:cNvPr id="11" name="Browser APIs"/>
          <p:cNvSpPr/>
          <p:nvPr/>
        </p:nvSpPr>
        <p:spPr>
          <a:xfrm>
            <a:off x="3291840" y="3200400"/>
            <a:ext cx="2651760" cy="685800"/>
          </a:xfrm>
          <a:prstGeom prst="roundRect">
            <a:avLst>
              <a:gd name="adj" fmla="val 10667"/>
            </a:avLst>
          </a:prstGeom>
          <a:solidFill>
            <a:schemeClr val="bg2"/>
          </a:solidFill>
          <a:ln w="12700">
            <a:solidFill>
              <a:schemeClr val="accent5"/>
            </a:solidFill>
            <a:prstDash val="solid"/>
          </a:ln>
        </p:spPr>
      </p:sp>
      <p:sp>
        <p:nvSpPr>
          <p:cNvPr id="12" name="Browser APIs text"/>
          <p:cNvSpPr txBox="1"/>
          <p:nvPr/>
        </p:nvSpPr>
        <p:spPr>
          <a:xfrm>
            <a:off x="3337560" y="3200400"/>
            <a:ext cx="2560320" cy="685800"/>
          </a:xfrm>
          <a:prstGeom prst="rect">
            <a:avLst/>
          </a:prstGeom>
          <a:noFill/>
          <a:ln/>
        </p:spPr>
        <p:txBody>
          <a:bodyPr wrap="square" lIns="0" tIns="0" rIns="0" bIns="0" rtlCol="0" anchor="ctr"/>
          <a:lstStyle/>
          <a:p>
            <a:pPr marL="0" indent="0" algn="ctr">
              <a:buNone/>
            </a:pPr>
            <a:r>
              <a:rPr lang="en-US" sz="1200" b="1" dirty="0">
                <a:solidFill>
                  <a:schemeClr val="tx1"/>
                </a:solidFill>
              </a:rPr>
              <a:t>Browser APIs: Web Crypto,</a:t>
            </a:r>
            <a:endParaRPr lang="en-US" sz="1200" dirty="0"/>
          </a:p>
          <a:p>
            <a:pPr marL="0" indent="0" algn="ctr">
              <a:buNone/>
            </a:pPr>
            <a:r>
              <a:rPr lang="en-US" sz="1200" b="1" dirty="0">
                <a:solidFill>
                  <a:schemeClr val="tx1"/>
                </a:solidFill>
              </a:rPr>
              <a:t>Web Speech, Print to PDF</a:t>
            </a:r>
            <a:endParaRPr lang="en-US" sz="1200" dirty="0"/>
          </a:p>
        </p:txBody>
      </p:sp>
      <p:sp>
        <p:nvSpPr>
          <p:cNvPr id="13" name="Architecture note"/>
          <p:cNvSpPr txBox="1"/>
          <p:nvPr/>
        </p:nvSpPr>
        <p:spPr>
          <a:xfrm>
            <a:off x="457200" y="4023360"/>
            <a:ext cx="5486400" cy="365760"/>
          </a:xfrm>
          <a:prstGeom prst="rect">
            <a:avLst/>
          </a:prstGeom>
          <a:noFill/>
          <a:ln/>
        </p:spPr>
        <p:txBody>
          <a:bodyPr wrap="square" lIns="0" tIns="0" rIns="0" bIns="0" rtlCol="0" anchor="t"/>
          <a:lstStyle/>
          <a:p>
            <a:pPr marL="0" indent="0">
              <a:buNone/>
            </a:pPr>
            <a:r>
              <a:rPr lang="en-US" sz="1300" i="1" dirty="0">
                <a:solidFill>
                  <a:schemeClr val="accent6"/>
                </a:solidFill>
              </a:rPr>
              <a:t>No backend. No runtime dependencies. Hosted free on Streamlit Cloud (static front end).</a:t>
            </a:r>
            <a:endParaRPr lang="en-US" sz="1300" dirty="0"/>
          </a:p>
        </p:txBody>
      </p:sp>
      <p:sp>
        <p:nvSpPr>
          <p:cNvPr id="14" name="Quality card 1"/>
          <p:cNvSpPr/>
          <p:nvPr/>
        </p:nvSpPr>
        <p:spPr>
          <a:xfrm>
            <a:off x="6217920" y="1188720"/>
            <a:ext cx="2468880" cy="896112"/>
          </a:xfrm>
          <a:prstGeom prst="roundRect">
            <a:avLst>
              <a:gd name="adj" fmla="val 12245"/>
            </a:avLst>
          </a:prstGeom>
          <a:solidFill>
            <a:schemeClr val="bg2"/>
          </a:solidFill>
          <a:ln w="12700">
            <a:solidFill>
              <a:schemeClr val="accent5"/>
            </a:solidFill>
            <a:prstDash val="solid"/>
          </a:ln>
        </p:spPr>
      </p:sp>
      <p:sp>
        <p:nvSpPr>
          <p:cNvPr id="15" name="Quality number 1"/>
          <p:cNvSpPr txBox="1"/>
          <p:nvPr/>
        </p:nvSpPr>
        <p:spPr>
          <a:xfrm>
            <a:off x="6309360" y="1188720"/>
            <a:ext cx="731520" cy="896112"/>
          </a:xfrm>
          <a:prstGeom prst="rect">
            <a:avLst/>
          </a:prstGeom>
          <a:noFill/>
          <a:ln/>
        </p:spPr>
        <p:txBody>
          <a:bodyPr wrap="square" lIns="0" tIns="0" rIns="0" bIns="0" rtlCol="0" anchor="ctr"/>
          <a:lstStyle/>
          <a:p>
            <a:pPr marL="0" indent="0" algn="ctr">
              <a:buNone/>
            </a:pPr>
            <a:r>
              <a:rPr lang="en-US" sz="3000" b="1" dirty="0">
                <a:solidFill>
                  <a:schemeClr val="accent1"/>
                </a:solidFill>
                <a:latin typeface="Cambria" pitchFamily="34" charset="0"/>
                <a:ea typeface="Cambria" pitchFamily="34" charset="-122"/>
                <a:cs typeface="Cambria" pitchFamily="34" charset="-120"/>
              </a:rPr>
              <a:t>84</a:t>
            </a:r>
            <a:endParaRPr lang="en-US" sz="3000" dirty="0"/>
          </a:p>
        </p:txBody>
      </p:sp>
      <p:sp>
        <p:nvSpPr>
          <p:cNvPr id="16" name="Quality text 1"/>
          <p:cNvSpPr txBox="1"/>
          <p:nvPr/>
        </p:nvSpPr>
        <p:spPr>
          <a:xfrm>
            <a:off x="7086600" y="1188720"/>
            <a:ext cx="1554480" cy="896112"/>
          </a:xfrm>
          <a:prstGeom prst="rect">
            <a:avLst/>
          </a:prstGeom>
          <a:noFill/>
          <a:ln/>
        </p:spPr>
        <p:txBody>
          <a:bodyPr wrap="square" lIns="0" tIns="0" rIns="0" bIns="0" rtlCol="0" anchor="ctr"/>
          <a:lstStyle/>
          <a:p>
            <a:pPr marL="0" indent="0">
              <a:buNone/>
            </a:pPr>
            <a:r>
              <a:rPr lang="en-US" sz="1100" dirty="0">
                <a:solidFill>
                  <a:schemeClr val="tx1"/>
                </a:solidFill>
              </a:rPr>
              <a:t>automated tests, run in CI</a:t>
            </a:r>
            <a:endParaRPr lang="en-US" sz="1100" dirty="0"/>
          </a:p>
        </p:txBody>
      </p:sp>
      <p:sp>
        <p:nvSpPr>
          <p:cNvPr id="17" name="Quality card 2"/>
          <p:cNvSpPr/>
          <p:nvPr/>
        </p:nvSpPr>
        <p:spPr>
          <a:xfrm>
            <a:off x="6217920" y="2212848"/>
            <a:ext cx="2468880" cy="896112"/>
          </a:xfrm>
          <a:prstGeom prst="roundRect">
            <a:avLst>
              <a:gd name="adj" fmla="val 12245"/>
            </a:avLst>
          </a:prstGeom>
          <a:solidFill>
            <a:schemeClr val="bg2"/>
          </a:solidFill>
          <a:ln w="12700">
            <a:solidFill>
              <a:schemeClr val="accent5"/>
            </a:solidFill>
            <a:prstDash val="solid"/>
          </a:ln>
        </p:spPr>
      </p:sp>
      <p:sp>
        <p:nvSpPr>
          <p:cNvPr id="18" name="Quality number 2"/>
          <p:cNvSpPr txBox="1"/>
          <p:nvPr/>
        </p:nvSpPr>
        <p:spPr>
          <a:xfrm>
            <a:off x="6309360" y="2212848"/>
            <a:ext cx="731520" cy="896112"/>
          </a:xfrm>
          <a:prstGeom prst="rect">
            <a:avLst/>
          </a:prstGeom>
          <a:noFill/>
          <a:ln/>
        </p:spPr>
        <p:txBody>
          <a:bodyPr wrap="square" lIns="0" tIns="0" rIns="0" bIns="0" rtlCol="0" anchor="ctr"/>
          <a:lstStyle/>
          <a:p>
            <a:pPr marL="0" indent="0" algn="ctr">
              <a:buNone/>
            </a:pPr>
            <a:r>
              <a:rPr lang="en-US" sz="3000" b="1" dirty="0">
                <a:solidFill>
                  <a:schemeClr val="accent1"/>
                </a:solidFill>
                <a:latin typeface="Cambria" pitchFamily="34" charset="0"/>
                <a:ea typeface="Cambria" pitchFamily="34" charset="-122"/>
                <a:cs typeface="Cambria" pitchFamily="34" charset="-120"/>
              </a:rPr>
              <a:t>0</a:t>
            </a:r>
            <a:endParaRPr lang="en-US" sz="3000" dirty="0"/>
          </a:p>
        </p:txBody>
      </p:sp>
      <p:sp>
        <p:nvSpPr>
          <p:cNvPr id="19" name="Quality text 2"/>
          <p:cNvSpPr txBox="1"/>
          <p:nvPr/>
        </p:nvSpPr>
        <p:spPr>
          <a:xfrm>
            <a:off x="7086600" y="2212848"/>
            <a:ext cx="1554480" cy="896112"/>
          </a:xfrm>
          <a:prstGeom prst="rect">
            <a:avLst/>
          </a:prstGeom>
          <a:noFill/>
          <a:ln/>
        </p:spPr>
        <p:txBody>
          <a:bodyPr wrap="square" lIns="0" tIns="0" rIns="0" bIns="0" rtlCol="0" anchor="ctr"/>
          <a:lstStyle/>
          <a:p>
            <a:pPr marL="0" indent="0">
              <a:buNone/>
            </a:pPr>
            <a:r>
              <a:rPr lang="en-US" sz="1100" dirty="0">
                <a:solidFill>
                  <a:schemeClr val="tx1"/>
                </a:solidFill>
              </a:rPr>
              <a:t>accessibility violations (axe-core, 7 screens, English + Kannada)</a:t>
            </a:r>
            <a:endParaRPr lang="en-US" sz="1100" dirty="0"/>
          </a:p>
        </p:txBody>
      </p:sp>
      <p:sp>
        <p:nvSpPr>
          <p:cNvPr id="20" name="Quality card 3"/>
          <p:cNvSpPr/>
          <p:nvPr/>
        </p:nvSpPr>
        <p:spPr>
          <a:xfrm>
            <a:off x="6217920" y="3236976"/>
            <a:ext cx="2468880" cy="896112"/>
          </a:xfrm>
          <a:prstGeom prst="roundRect">
            <a:avLst>
              <a:gd name="adj" fmla="val 12245"/>
            </a:avLst>
          </a:prstGeom>
          <a:solidFill>
            <a:schemeClr val="bg2"/>
          </a:solidFill>
          <a:ln w="12700">
            <a:solidFill>
              <a:schemeClr val="accent5"/>
            </a:solidFill>
            <a:prstDash val="solid"/>
          </a:ln>
        </p:spPr>
      </p:sp>
      <p:sp>
        <p:nvSpPr>
          <p:cNvPr id="21" name="Quality number 3"/>
          <p:cNvSpPr txBox="1"/>
          <p:nvPr/>
        </p:nvSpPr>
        <p:spPr>
          <a:xfrm>
            <a:off x="6309360" y="3236976"/>
            <a:ext cx="731520" cy="896112"/>
          </a:xfrm>
          <a:prstGeom prst="rect">
            <a:avLst/>
          </a:prstGeom>
          <a:noFill/>
          <a:ln/>
        </p:spPr>
        <p:txBody>
          <a:bodyPr wrap="square" lIns="0" tIns="0" rIns="0" bIns="0" rtlCol="0" anchor="ctr"/>
          <a:lstStyle/>
          <a:p>
            <a:pPr marL="0" indent="0" algn="ctr">
              <a:buNone/>
            </a:pPr>
            <a:r>
              <a:rPr lang="en-US" sz="3000" b="1" dirty="0">
                <a:solidFill>
                  <a:schemeClr val="accent1"/>
                </a:solidFill>
                <a:latin typeface="Cambria" pitchFamily="34" charset="0"/>
                <a:ea typeface="Cambria" pitchFamily="34" charset="-122"/>
                <a:cs typeface="Cambria" pitchFamily="34" charset="-120"/>
              </a:rPr>
              <a:t>0</a:t>
            </a:r>
            <a:endParaRPr lang="en-US" sz="3000" dirty="0"/>
          </a:p>
        </p:txBody>
      </p:sp>
      <p:sp>
        <p:nvSpPr>
          <p:cNvPr id="22" name="Quality text 3"/>
          <p:cNvSpPr txBox="1"/>
          <p:nvPr/>
        </p:nvSpPr>
        <p:spPr>
          <a:xfrm>
            <a:off x="7086600" y="3236976"/>
            <a:ext cx="1554480" cy="896112"/>
          </a:xfrm>
          <a:prstGeom prst="rect">
            <a:avLst/>
          </a:prstGeom>
          <a:noFill/>
          <a:ln/>
        </p:spPr>
        <p:txBody>
          <a:bodyPr wrap="square" lIns="0" tIns="0" rIns="0" bIns="0" rtlCol="0" anchor="ctr"/>
          <a:lstStyle/>
          <a:p>
            <a:pPr marL="0" indent="0">
              <a:buNone/>
            </a:pPr>
            <a:r>
              <a:rPr lang="en-US" sz="1100" dirty="0">
                <a:solidFill>
                  <a:schemeClr val="tx1"/>
                </a:solidFill>
              </a:rPr>
              <a:t>runtime dependencies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Feasibility</a:t>
            </a:r>
            <a:endParaRPr lang="en-US" sz="3200" dirty="0"/>
          </a:p>
        </p:txBody>
      </p:sp>
      <p:sp>
        <p:nvSpPr>
          <p:cNvPr id="3" name="Feasible 1 circle"/>
          <p:cNvSpPr/>
          <p:nvPr/>
        </p:nvSpPr>
        <p:spPr>
          <a:xfrm>
            <a:off x="457200" y="1280160"/>
            <a:ext cx="640080" cy="640080"/>
          </a:xfrm>
          <a:prstGeom prst="ellipse">
            <a:avLst/>
          </a:prstGeom>
          <a:solidFill>
            <a:schemeClr val="accent1"/>
          </a:solidFill>
          <a:ln w="12700">
            <a:solidFill>
              <a:schemeClr val="accent1"/>
            </a:solidFill>
            <a:prstDash val="solid"/>
          </a:ln>
        </p:spPr>
      </p:sp>
      <p:pic>
        <p:nvPicPr>
          <p:cNvPr id="4" name="Feasible 1 icon" descr="Feasible 1"/>
          <p:cNvPicPr>
            <a:picLocks noChangeAspect="1"/>
          </p:cNvPicPr>
          <p:nvPr/>
        </p:nvPicPr>
        <p:blipFill>
          <a:blip r:embed="rId3"/>
          <a:stretch>
            <a:fillRect/>
          </a:stretch>
        </p:blipFill>
        <p:spPr>
          <a:xfrm>
            <a:off x="617220" y="1440180"/>
            <a:ext cx="320040" cy="320040"/>
          </a:xfrm>
          <a:prstGeom prst="rect">
            <a:avLst/>
          </a:prstGeom>
        </p:spPr>
      </p:pic>
      <p:sp>
        <p:nvSpPr>
          <p:cNvPr id="5" name="Feasible title 1"/>
          <p:cNvSpPr txBox="1"/>
          <p:nvPr/>
        </p:nvSpPr>
        <p:spPr>
          <a:xfrm>
            <a:off x="1280160" y="1188720"/>
            <a:ext cx="3108960" cy="320040"/>
          </a:xfrm>
          <a:prstGeom prst="rect">
            <a:avLst/>
          </a:prstGeom>
          <a:noFill/>
          <a:ln/>
        </p:spPr>
        <p:txBody>
          <a:bodyPr wrap="square" lIns="0" tIns="0" rIns="0" bIns="0" rtlCol="0" anchor="t"/>
          <a:lstStyle/>
          <a:p>
            <a:pPr marL="0" indent="0">
              <a:buNone/>
            </a:pPr>
            <a:r>
              <a:rPr lang="en-US" sz="1600" b="1" dirty="0">
                <a:solidFill>
                  <a:schemeClr val="tx2"/>
                </a:solidFill>
              </a:rPr>
              <a:t>Built and working</a:t>
            </a:r>
            <a:endParaRPr lang="en-US" sz="1600" dirty="0"/>
          </a:p>
        </p:txBody>
      </p:sp>
      <p:sp>
        <p:nvSpPr>
          <p:cNvPr id="6" name="Feasible text 1"/>
          <p:cNvSpPr txBox="1"/>
          <p:nvPr/>
        </p:nvSpPr>
        <p:spPr>
          <a:xfrm>
            <a:off x="1280160" y="1536192"/>
            <a:ext cx="3108960" cy="685800"/>
          </a:xfrm>
          <a:prstGeom prst="rect">
            <a:avLst/>
          </a:prstGeom>
          <a:noFill/>
          <a:ln/>
        </p:spPr>
        <p:txBody>
          <a:bodyPr wrap="square" lIns="0" tIns="0" rIns="0" bIns="0" rtlCol="0" anchor="t"/>
          <a:lstStyle/>
          <a:p>
            <a:pPr marL="0" indent="0">
              <a:buNone/>
            </a:pPr>
            <a:r>
              <a:rPr lang="en-US" sz="1200" dirty="0">
                <a:solidFill>
                  <a:schemeClr val="tx1"/>
                </a:solidFill>
              </a:rPr>
              <a:t>Complete MVP in the hackathon window, tested and live on Streamlit Cloud.</a:t>
            </a:r>
            <a:endParaRPr lang="en-US" sz="1200" dirty="0"/>
          </a:p>
        </p:txBody>
      </p:sp>
      <p:sp>
        <p:nvSpPr>
          <p:cNvPr id="7" name="Feasible 2 circle"/>
          <p:cNvSpPr/>
          <p:nvPr/>
        </p:nvSpPr>
        <p:spPr>
          <a:xfrm>
            <a:off x="457200" y="2377440"/>
            <a:ext cx="640080" cy="640080"/>
          </a:xfrm>
          <a:prstGeom prst="ellipse">
            <a:avLst/>
          </a:prstGeom>
          <a:solidFill>
            <a:schemeClr val="accent1"/>
          </a:solidFill>
          <a:ln w="12700">
            <a:solidFill>
              <a:schemeClr val="accent1"/>
            </a:solidFill>
            <a:prstDash val="solid"/>
          </a:ln>
        </p:spPr>
      </p:sp>
      <p:pic>
        <p:nvPicPr>
          <p:cNvPr id="8" name="Feasible 2 icon" descr="Feasible 2"/>
          <p:cNvPicPr>
            <a:picLocks noChangeAspect="1"/>
          </p:cNvPicPr>
          <p:nvPr/>
        </p:nvPicPr>
        <p:blipFill>
          <a:blip r:embed="rId4"/>
          <a:stretch>
            <a:fillRect/>
          </a:stretch>
        </p:blipFill>
        <p:spPr>
          <a:xfrm>
            <a:off x="617220" y="2537460"/>
            <a:ext cx="320040" cy="320040"/>
          </a:xfrm>
          <a:prstGeom prst="rect">
            <a:avLst/>
          </a:prstGeom>
        </p:spPr>
      </p:pic>
      <p:sp>
        <p:nvSpPr>
          <p:cNvPr id="9" name="Feasible title 2"/>
          <p:cNvSpPr txBox="1"/>
          <p:nvPr/>
        </p:nvSpPr>
        <p:spPr>
          <a:xfrm>
            <a:off x="1280160" y="2286000"/>
            <a:ext cx="3108960" cy="320040"/>
          </a:xfrm>
          <a:prstGeom prst="rect">
            <a:avLst/>
          </a:prstGeom>
          <a:noFill/>
          <a:ln/>
        </p:spPr>
        <p:txBody>
          <a:bodyPr wrap="square" lIns="0" tIns="0" rIns="0" bIns="0" rtlCol="0" anchor="t"/>
          <a:lstStyle/>
          <a:p>
            <a:pPr marL="0" indent="0">
              <a:buNone/>
            </a:pPr>
            <a:r>
              <a:rPr lang="en-US" sz="1600" b="1" dirty="0">
                <a:solidFill>
                  <a:schemeClr val="tx2"/>
                </a:solidFill>
              </a:rPr>
              <a:t>Near-zero cost</a:t>
            </a:r>
            <a:endParaRPr lang="en-US" sz="1600" dirty="0"/>
          </a:p>
        </p:txBody>
      </p:sp>
      <p:sp>
        <p:nvSpPr>
          <p:cNvPr id="10" name="Feasible text 2"/>
          <p:cNvSpPr txBox="1"/>
          <p:nvPr/>
        </p:nvSpPr>
        <p:spPr>
          <a:xfrm>
            <a:off x="1280160" y="2633472"/>
            <a:ext cx="3108960" cy="685800"/>
          </a:xfrm>
          <a:prstGeom prst="rect">
            <a:avLst/>
          </a:prstGeom>
          <a:noFill/>
          <a:ln/>
        </p:spPr>
        <p:txBody>
          <a:bodyPr wrap="square" lIns="0" tIns="0" rIns="0" bIns="0" rtlCol="0" anchor="t"/>
          <a:lstStyle/>
          <a:p>
            <a:pPr marL="0" indent="0">
              <a:buNone/>
            </a:pPr>
            <a:r>
              <a:rPr lang="en-US" sz="1200" dirty="0">
                <a:solidFill>
                  <a:schemeClr val="tx1"/>
                </a:solidFill>
              </a:rPr>
              <a:t>Static hosting and no servers. Nothing to run or pay for at demo scale.</a:t>
            </a:r>
            <a:endParaRPr lang="en-US" sz="1200" dirty="0"/>
          </a:p>
        </p:txBody>
      </p:sp>
      <p:sp>
        <p:nvSpPr>
          <p:cNvPr id="11" name="Feasible 3 circle"/>
          <p:cNvSpPr/>
          <p:nvPr/>
        </p:nvSpPr>
        <p:spPr>
          <a:xfrm>
            <a:off x="457200" y="3474720"/>
            <a:ext cx="640080" cy="640080"/>
          </a:xfrm>
          <a:prstGeom prst="ellipse">
            <a:avLst/>
          </a:prstGeom>
          <a:solidFill>
            <a:schemeClr val="accent1"/>
          </a:solidFill>
          <a:ln w="12700">
            <a:solidFill>
              <a:schemeClr val="accent1"/>
            </a:solidFill>
            <a:prstDash val="solid"/>
          </a:ln>
        </p:spPr>
      </p:sp>
      <p:pic>
        <p:nvPicPr>
          <p:cNvPr id="12" name="Feasible 3 icon" descr="Feasible 3"/>
          <p:cNvPicPr>
            <a:picLocks noChangeAspect="1"/>
          </p:cNvPicPr>
          <p:nvPr/>
        </p:nvPicPr>
        <p:blipFill>
          <a:blip r:embed="rId5"/>
          <a:stretch>
            <a:fillRect/>
          </a:stretch>
        </p:blipFill>
        <p:spPr>
          <a:xfrm>
            <a:off x="617220" y="3634740"/>
            <a:ext cx="320040" cy="320040"/>
          </a:xfrm>
          <a:prstGeom prst="rect">
            <a:avLst/>
          </a:prstGeom>
        </p:spPr>
      </p:pic>
      <p:sp>
        <p:nvSpPr>
          <p:cNvPr id="13" name="Feasible title 3"/>
          <p:cNvSpPr txBox="1"/>
          <p:nvPr/>
        </p:nvSpPr>
        <p:spPr>
          <a:xfrm>
            <a:off x="1280160" y="3383280"/>
            <a:ext cx="3108960" cy="320040"/>
          </a:xfrm>
          <a:prstGeom prst="rect">
            <a:avLst/>
          </a:prstGeom>
          <a:noFill/>
          <a:ln/>
        </p:spPr>
        <p:txBody>
          <a:bodyPr wrap="square" lIns="0" tIns="0" rIns="0" bIns="0" rtlCol="0" anchor="t"/>
          <a:lstStyle/>
          <a:p>
            <a:pPr marL="0" indent="0">
              <a:buNone/>
            </a:pPr>
            <a:r>
              <a:rPr lang="en-US" sz="1600" b="1" dirty="0">
                <a:solidFill>
                  <a:schemeClr val="tx2"/>
                </a:solidFill>
              </a:rPr>
              <a:t>Works on any phone</a:t>
            </a:r>
            <a:endParaRPr lang="en-US" sz="1600" dirty="0"/>
          </a:p>
        </p:txBody>
      </p:sp>
      <p:sp>
        <p:nvSpPr>
          <p:cNvPr id="14" name="Feasible text 3"/>
          <p:cNvSpPr txBox="1"/>
          <p:nvPr/>
        </p:nvSpPr>
        <p:spPr>
          <a:xfrm>
            <a:off x="1280160" y="3730752"/>
            <a:ext cx="3108960" cy="685800"/>
          </a:xfrm>
          <a:prstGeom prst="rect">
            <a:avLst/>
          </a:prstGeom>
          <a:noFill/>
          <a:ln/>
        </p:spPr>
        <p:txBody>
          <a:bodyPr wrap="square" lIns="0" tIns="0" rIns="0" bIns="0" rtlCol="0" anchor="t"/>
          <a:lstStyle/>
          <a:p>
            <a:pPr marL="0" indent="0">
              <a:buNone/>
            </a:pPr>
            <a:r>
              <a:rPr lang="en-US" sz="1200" dirty="0">
                <a:solidFill>
                  <a:schemeClr val="tx1"/>
                </a:solidFill>
              </a:rPr>
              <a:t>Runs in a browser, no install. Voice needs Chrome or Edge; chips work everywhere.</a:t>
            </a:r>
            <a:endParaRPr lang="en-US" sz="1200" dirty="0"/>
          </a:p>
        </p:txBody>
      </p:sp>
      <p:graphicFrame>
        <p:nvGraphicFramePr>
          <p:cNvPr id="15" name="Risk table"/>
          <p:cNvGraphicFramePr>
            <a:graphicFrameLocks noGrp="1"/>
          </p:cNvGraphicFramePr>
          <p:nvPr>
            <p:extLst>
              <p:ext uri="{D42A27DB-BD31-4B8C-83A1-F6EECF244321}">
                <p14:modId xmlns:p14="http://schemas.microsoft.com/office/powerpoint/2010/main" val="1579011935"/>
              </p:ext>
            </p:extLst>
          </p:nvPr>
        </p:nvGraphicFramePr>
        <p:xfrm>
          <a:off x="4663440" y="1188720"/>
          <a:ext cx="4023360" cy="3063240"/>
        </p:xfrm>
        <a:graphic>
          <a:graphicData uri="http://schemas.openxmlformats.org/drawingml/2006/table">
            <a:tbl>
              <a:tblPr/>
              <a:tblGrid>
                <a:gridCol w="15544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365760">
                <a:tc>
                  <a:txBody>
                    <a:bodyPr/>
                    <a:lstStyle/>
                    <a:p>
                      <a:pPr marL="0" indent="0">
                        <a:buNone/>
                      </a:pPr>
                      <a:r>
                        <a:rPr lang="en-US" sz="1200" b="1" dirty="0">
                          <a:solidFill>
                            <a:schemeClr val="bg1"/>
                          </a:solidFill>
                        </a:rPr>
                        <a:t>Risk</a:t>
                      </a:r>
                      <a:endParaRPr lang="en-US" sz="12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Mitigation</a:t>
                      </a:r>
                      <a:endParaRPr lang="en-US" sz="12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77240">
                <a:tc>
                  <a:txBody>
                    <a:bodyPr/>
                    <a:lstStyle/>
                    <a:p>
                      <a:pPr marL="0" indent="0">
                        <a:buNone/>
                      </a:pPr>
                      <a:r>
                        <a:rPr lang="en-US" sz="1100" b="1" dirty="0">
                          <a:solidFill>
                            <a:schemeClr val="tx2"/>
                          </a:solidFill>
                        </a:rPr>
                        <a:t>Rules not clinically validated</a:t>
                      </a:r>
                      <a:endParaRPr lang="en-US" sz="11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Never diagnoses; open rules; clinician review is the next step</a:t>
                      </a:r>
                      <a:endParaRPr lang="en-US" sz="11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40080">
                <a:tc>
                  <a:txBody>
                    <a:bodyPr/>
                    <a:lstStyle/>
                    <a:p>
                      <a:pPr marL="0" indent="0">
                        <a:buNone/>
                      </a:pPr>
                      <a:r>
                        <a:rPr lang="en-US" sz="1100" b="1" dirty="0">
                          <a:solidFill>
                            <a:schemeClr val="tx2"/>
                          </a:solidFill>
                        </a:rPr>
                        <a:t>Accounts are device-local</a:t>
                      </a:r>
                      <a:endParaRPr lang="en-US" sz="11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Swap auth.js for Firebase or Supabase, same functions</a:t>
                      </a:r>
                      <a:endParaRPr lang="en-US" sz="11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40080">
                <a:tc>
                  <a:txBody>
                    <a:bodyPr/>
                    <a:lstStyle/>
                    <a:p>
                      <a:pPr marL="0" indent="0">
                        <a:buNone/>
                      </a:pPr>
                      <a:r>
                        <a:rPr lang="en-US" sz="1100" b="1" dirty="0">
                          <a:solidFill>
                            <a:schemeClr val="tx2"/>
                          </a:solidFill>
                        </a:rPr>
                        <a:t>Speech accuracy, Kannada</a:t>
                      </a:r>
                      <a:endParaRPr lang="en-US" sz="11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Chips remain; users can correct what was heard</a:t>
                      </a:r>
                      <a:endParaRPr lang="en-US" sz="11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40080">
                <a:tc>
                  <a:txBody>
                    <a:bodyPr/>
                    <a:lstStyle/>
                    <a:p>
                      <a:pPr marL="0" indent="0">
                        <a:buNone/>
                      </a:pPr>
                      <a:r>
                        <a:rPr lang="en-US" sz="1100" b="1" dirty="0">
                          <a:solidFill>
                            <a:schemeClr val="tx2"/>
                          </a:solidFill>
                        </a:rPr>
                        <a:t>Sensitive health data</a:t>
                      </a:r>
                      <a:endParaRPr lang="en-US" sz="11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Stays on the device; one tap deletes everything</a:t>
                      </a:r>
                      <a:endParaRPr lang="en-US" sz="1100" dirty="0"/>
                    </a:p>
                  </a:txBody>
                  <a:tcPr marL="73152" marR="73152" marT="36576" marB="36576" anchor="ctr">
                    <a:lnL w="9525" cap="flat" cmpd="sng" algn="ctr">
                      <a:solidFill>
                        <a:srgbClr val="FBCFE8"/>
                      </a:solidFill>
                      <a:prstDash val="solid"/>
                      <a:round/>
                      <a:headEnd type="none" w="med" len="med"/>
                      <a:tailEnd type="none" w="med" len="med"/>
                    </a:lnL>
                    <a:lnR w="9525" cap="flat" cmpd="sng" algn="ctr">
                      <a:solidFill>
                        <a:srgbClr val="FBCFE8"/>
                      </a:solidFill>
                      <a:prstDash val="solid"/>
                      <a:round/>
                      <a:headEnd type="none" w="med" len="med"/>
                      <a:tailEnd type="none" w="med" len="med"/>
                    </a:lnR>
                    <a:lnT w="9525" cap="flat" cmpd="sng" algn="ctr">
                      <a:solidFill>
                        <a:srgbClr val="FBCFE8"/>
                      </a:solidFill>
                      <a:prstDash val="solid"/>
                      <a:round/>
                      <a:headEnd type="none" w="med" len="med"/>
                      <a:tailEnd type="none" w="med" len="med"/>
                    </a:lnT>
                    <a:lnB w="9525" cap="flat" cmpd="sng" algn="ctr">
                      <a:solidFill>
                        <a:srgbClr val="FBCFE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Impact and benefits</a:t>
            </a:r>
            <a:endParaRPr lang="en-US" sz="3200" dirty="0"/>
          </a:p>
        </p:txBody>
      </p:sp>
      <p:sp>
        <p:nvSpPr>
          <p:cNvPr id="3" name="Impact card 1"/>
          <p:cNvSpPr/>
          <p:nvPr/>
        </p:nvSpPr>
        <p:spPr>
          <a:xfrm>
            <a:off x="457200" y="1188720"/>
            <a:ext cx="2560320" cy="2468880"/>
          </a:xfrm>
          <a:prstGeom prst="roundRect">
            <a:avLst>
              <a:gd name="adj" fmla="val 4444"/>
            </a:avLst>
          </a:prstGeom>
          <a:solidFill>
            <a:schemeClr val="bg2"/>
          </a:solidFill>
          <a:ln w="12700">
            <a:solidFill>
              <a:schemeClr val="accent5"/>
            </a:solidFill>
            <a:prstDash val="solid"/>
          </a:ln>
        </p:spPr>
      </p:sp>
      <p:sp>
        <p:nvSpPr>
          <p:cNvPr id="4" name="Impact 1 circle"/>
          <p:cNvSpPr/>
          <p:nvPr/>
        </p:nvSpPr>
        <p:spPr>
          <a:xfrm>
            <a:off x="685800" y="1371600"/>
            <a:ext cx="640080" cy="640080"/>
          </a:xfrm>
          <a:prstGeom prst="ellipse">
            <a:avLst/>
          </a:prstGeom>
          <a:solidFill>
            <a:schemeClr val="accent1"/>
          </a:solidFill>
          <a:ln w="12700">
            <a:solidFill>
              <a:schemeClr val="accent1"/>
            </a:solidFill>
            <a:prstDash val="solid"/>
          </a:ln>
        </p:spPr>
      </p:sp>
      <p:pic>
        <p:nvPicPr>
          <p:cNvPr id="5" name="Impact 1 icon" descr="Impact 1"/>
          <p:cNvPicPr>
            <a:picLocks noChangeAspect="1"/>
          </p:cNvPicPr>
          <p:nvPr/>
        </p:nvPicPr>
        <p:blipFill>
          <a:blip r:embed="rId3"/>
          <a:stretch>
            <a:fillRect/>
          </a:stretch>
        </p:blipFill>
        <p:spPr>
          <a:xfrm>
            <a:off x="845820" y="1531620"/>
            <a:ext cx="320040" cy="320040"/>
          </a:xfrm>
          <a:prstGeom prst="rect">
            <a:avLst/>
          </a:prstGeom>
        </p:spPr>
      </p:pic>
      <p:sp>
        <p:nvSpPr>
          <p:cNvPr id="6" name="Impact title 1"/>
          <p:cNvSpPr txBox="1"/>
          <p:nvPr/>
        </p:nvSpPr>
        <p:spPr>
          <a:xfrm>
            <a:off x="685800" y="2148840"/>
            <a:ext cx="2103120" cy="365760"/>
          </a:xfrm>
          <a:prstGeom prst="rect">
            <a:avLst/>
          </a:prstGeom>
          <a:noFill/>
          <a:ln/>
        </p:spPr>
        <p:txBody>
          <a:bodyPr wrap="square" lIns="0" tIns="0" rIns="0" bIns="0" rtlCol="0" anchor="t"/>
          <a:lstStyle/>
          <a:p>
            <a:pPr marL="0" indent="0">
              <a:buNone/>
            </a:pPr>
            <a:r>
              <a:rPr lang="en-US" sz="1800" b="1" dirty="0">
                <a:solidFill>
                  <a:schemeClr val="tx2"/>
                </a:solidFill>
              </a:rPr>
              <a:t>For women</a:t>
            </a:r>
            <a:endParaRPr lang="en-US" sz="1800" dirty="0"/>
          </a:p>
        </p:txBody>
      </p:sp>
      <p:sp>
        <p:nvSpPr>
          <p:cNvPr id="7" name="Impact text 1"/>
          <p:cNvSpPr txBox="1"/>
          <p:nvPr/>
        </p:nvSpPr>
        <p:spPr>
          <a:xfrm>
            <a:off x="685800" y="2560320"/>
            <a:ext cx="2103120" cy="1051560"/>
          </a:xfrm>
          <a:prstGeom prst="rect">
            <a:avLst/>
          </a:prstGeom>
          <a:noFill/>
          <a:ln/>
        </p:spPr>
        <p:txBody>
          <a:bodyPr wrap="square" lIns="0" tIns="0" rIns="0" bIns="0" rtlCol="0" anchor="t"/>
          <a:lstStyle/>
          <a:p>
            <a:pPr marL="0" indent="0">
              <a:buNone/>
            </a:pPr>
            <a:r>
              <a:rPr lang="en-US" sz="1200" dirty="0">
                <a:solidFill>
                  <a:schemeClr val="tx1"/>
                </a:solidFill>
              </a:rPr>
              <a:t>Notice patterns sooner, arrive prepared, and use the app in Kannada or English without sharing data.</a:t>
            </a:r>
            <a:endParaRPr lang="en-US" sz="1200" dirty="0"/>
          </a:p>
        </p:txBody>
      </p:sp>
      <p:sp>
        <p:nvSpPr>
          <p:cNvPr id="8" name="Impact card 2"/>
          <p:cNvSpPr/>
          <p:nvPr/>
        </p:nvSpPr>
        <p:spPr>
          <a:xfrm>
            <a:off x="3291840" y="1188720"/>
            <a:ext cx="2560320" cy="2468880"/>
          </a:xfrm>
          <a:prstGeom prst="roundRect">
            <a:avLst>
              <a:gd name="adj" fmla="val 4444"/>
            </a:avLst>
          </a:prstGeom>
          <a:solidFill>
            <a:schemeClr val="bg2"/>
          </a:solidFill>
          <a:ln w="12700">
            <a:solidFill>
              <a:schemeClr val="accent5"/>
            </a:solidFill>
            <a:prstDash val="solid"/>
          </a:ln>
        </p:spPr>
      </p:sp>
      <p:sp>
        <p:nvSpPr>
          <p:cNvPr id="9" name="Impact 2 circle"/>
          <p:cNvSpPr/>
          <p:nvPr/>
        </p:nvSpPr>
        <p:spPr>
          <a:xfrm>
            <a:off x="3520440" y="1371600"/>
            <a:ext cx="640080" cy="640080"/>
          </a:xfrm>
          <a:prstGeom prst="ellipse">
            <a:avLst/>
          </a:prstGeom>
          <a:solidFill>
            <a:schemeClr val="accent1"/>
          </a:solidFill>
          <a:ln w="12700">
            <a:solidFill>
              <a:schemeClr val="accent1"/>
            </a:solidFill>
            <a:prstDash val="solid"/>
          </a:ln>
        </p:spPr>
      </p:sp>
      <p:pic>
        <p:nvPicPr>
          <p:cNvPr id="10" name="Impact 2 icon" descr="Impact 2"/>
          <p:cNvPicPr>
            <a:picLocks noChangeAspect="1"/>
          </p:cNvPicPr>
          <p:nvPr/>
        </p:nvPicPr>
        <p:blipFill>
          <a:blip r:embed="rId4"/>
          <a:stretch>
            <a:fillRect/>
          </a:stretch>
        </p:blipFill>
        <p:spPr>
          <a:xfrm>
            <a:off x="3680460" y="1531620"/>
            <a:ext cx="320040" cy="320040"/>
          </a:xfrm>
          <a:prstGeom prst="rect">
            <a:avLst/>
          </a:prstGeom>
        </p:spPr>
      </p:pic>
      <p:sp>
        <p:nvSpPr>
          <p:cNvPr id="11" name="Impact title 2"/>
          <p:cNvSpPr txBox="1"/>
          <p:nvPr/>
        </p:nvSpPr>
        <p:spPr>
          <a:xfrm>
            <a:off x="3520440" y="2148840"/>
            <a:ext cx="2103120" cy="365760"/>
          </a:xfrm>
          <a:prstGeom prst="rect">
            <a:avLst/>
          </a:prstGeom>
          <a:noFill/>
          <a:ln/>
        </p:spPr>
        <p:txBody>
          <a:bodyPr wrap="square" lIns="0" tIns="0" rIns="0" bIns="0" rtlCol="0" anchor="t"/>
          <a:lstStyle/>
          <a:p>
            <a:pPr marL="0" indent="0">
              <a:buNone/>
            </a:pPr>
            <a:r>
              <a:rPr lang="en-US" sz="1800" b="1" dirty="0">
                <a:solidFill>
                  <a:schemeClr val="tx2"/>
                </a:solidFill>
              </a:rPr>
              <a:t>For doctors</a:t>
            </a:r>
            <a:endParaRPr lang="en-US" sz="1800" dirty="0"/>
          </a:p>
        </p:txBody>
      </p:sp>
      <p:sp>
        <p:nvSpPr>
          <p:cNvPr id="12" name="Impact text 2"/>
          <p:cNvSpPr txBox="1"/>
          <p:nvPr/>
        </p:nvSpPr>
        <p:spPr>
          <a:xfrm>
            <a:off x="3520440" y="2560320"/>
            <a:ext cx="2103120" cy="1051560"/>
          </a:xfrm>
          <a:prstGeom prst="rect">
            <a:avLst/>
          </a:prstGeom>
          <a:noFill/>
          <a:ln/>
        </p:spPr>
        <p:txBody>
          <a:bodyPr wrap="square" lIns="0" tIns="0" rIns="0" bIns="0" rtlCol="0" anchor="t"/>
          <a:lstStyle/>
          <a:p>
            <a:pPr marL="0" indent="0">
              <a:buNone/>
            </a:pPr>
            <a:r>
              <a:rPr lang="en-US" sz="1200" dirty="0">
                <a:solidFill>
                  <a:schemeClr val="tx1"/>
                </a:solidFill>
              </a:rPr>
              <a:t>A structured history: cycle lengths, missed months, symptom frequency and questions to discuss.</a:t>
            </a:r>
            <a:endParaRPr lang="en-US" sz="1200" dirty="0"/>
          </a:p>
        </p:txBody>
      </p:sp>
      <p:sp>
        <p:nvSpPr>
          <p:cNvPr id="13" name="Impact card 3"/>
          <p:cNvSpPr/>
          <p:nvPr/>
        </p:nvSpPr>
        <p:spPr>
          <a:xfrm>
            <a:off x="6126480" y="1188720"/>
            <a:ext cx="2560320" cy="2468880"/>
          </a:xfrm>
          <a:prstGeom prst="roundRect">
            <a:avLst>
              <a:gd name="adj" fmla="val 4444"/>
            </a:avLst>
          </a:prstGeom>
          <a:solidFill>
            <a:schemeClr val="bg2"/>
          </a:solidFill>
          <a:ln w="12700">
            <a:solidFill>
              <a:schemeClr val="accent5"/>
            </a:solidFill>
            <a:prstDash val="solid"/>
          </a:ln>
        </p:spPr>
      </p:sp>
      <p:sp>
        <p:nvSpPr>
          <p:cNvPr id="14" name="Impact 3 circle"/>
          <p:cNvSpPr/>
          <p:nvPr/>
        </p:nvSpPr>
        <p:spPr>
          <a:xfrm>
            <a:off x="6355080" y="1371600"/>
            <a:ext cx="640080" cy="640080"/>
          </a:xfrm>
          <a:prstGeom prst="ellipse">
            <a:avLst/>
          </a:prstGeom>
          <a:solidFill>
            <a:schemeClr val="accent1"/>
          </a:solidFill>
          <a:ln w="12700">
            <a:solidFill>
              <a:schemeClr val="accent1"/>
            </a:solidFill>
            <a:prstDash val="solid"/>
          </a:ln>
        </p:spPr>
      </p:sp>
      <p:pic>
        <p:nvPicPr>
          <p:cNvPr id="15" name="Impact 3 icon" descr="Impact 3"/>
          <p:cNvPicPr>
            <a:picLocks noChangeAspect="1"/>
          </p:cNvPicPr>
          <p:nvPr/>
        </p:nvPicPr>
        <p:blipFill>
          <a:blip r:embed="rId5"/>
          <a:stretch>
            <a:fillRect/>
          </a:stretch>
        </p:blipFill>
        <p:spPr>
          <a:xfrm>
            <a:off x="6515100" y="1531620"/>
            <a:ext cx="320040" cy="320040"/>
          </a:xfrm>
          <a:prstGeom prst="rect">
            <a:avLst/>
          </a:prstGeom>
        </p:spPr>
      </p:pic>
      <p:sp>
        <p:nvSpPr>
          <p:cNvPr id="16" name="Impact title 3"/>
          <p:cNvSpPr txBox="1"/>
          <p:nvPr/>
        </p:nvSpPr>
        <p:spPr>
          <a:xfrm>
            <a:off x="6355080" y="2148840"/>
            <a:ext cx="2103120" cy="365760"/>
          </a:xfrm>
          <a:prstGeom prst="rect">
            <a:avLst/>
          </a:prstGeom>
          <a:noFill/>
          <a:ln/>
        </p:spPr>
        <p:txBody>
          <a:bodyPr wrap="square" lIns="0" tIns="0" rIns="0" bIns="0" rtlCol="0" anchor="t"/>
          <a:lstStyle/>
          <a:p>
            <a:pPr marL="0" indent="0">
              <a:buNone/>
            </a:pPr>
            <a:r>
              <a:rPr lang="en-US" sz="1800" b="1" dirty="0">
                <a:solidFill>
                  <a:schemeClr val="tx2"/>
                </a:solidFill>
              </a:rPr>
              <a:t>For public health</a:t>
            </a:r>
            <a:endParaRPr lang="en-US" sz="1800" dirty="0"/>
          </a:p>
        </p:txBody>
      </p:sp>
      <p:sp>
        <p:nvSpPr>
          <p:cNvPr id="17" name="Impact text 3"/>
          <p:cNvSpPr txBox="1"/>
          <p:nvPr/>
        </p:nvSpPr>
        <p:spPr>
          <a:xfrm>
            <a:off x="6355080" y="2560320"/>
            <a:ext cx="2103120" cy="1051560"/>
          </a:xfrm>
          <a:prstGeom prst="rect">
            <a:avLst/>
          </a:prstGeom>
          <a:noFill/>
          <a:ln/>
        </p:spPr>
        <p:txBody>
          <a:bodyPr wrap="square" lIns="0" tIns="0" rIns="0" bIns="0" rtlCol="0" anchor="t"/>
          <a:lstStyle/>
          <a:p>
            <a:pPr marL="0" indent="0">
              <a:buNone/>
            </a:pPr>
            <a:r>
              <a:rPr lang="en-US" sz="1200" dirty="0">
                <a:solidFill>
                  <a:schemeClr val="tx1"/>
                </a:solidFill>
              </a:rPr>
              <a:t>Earlier check-ups for common, under-diagnosed conditions such as PCOS, anaemia and endometriosis.</a:t>
            </a:r>
            <a:endParaRPr lang="en-US" sz="1200" dirty="0"/>
          </a:p>
        </p:txBody>
      </p:sp>
      <p:sp>
        <p:nvSpPr>
          <p:cNvPr id="18" name="Benefit banner"/>
          <p:cNvSpPr/>
          <p:nvPr/>
        </p:nvSpPr>
        <p:spPr>
          <a:xfrm>
            <a:off x="457200" y="3840480"/>
            <a:ext cx="8229600" cy="594360"/>
          </a:xfrm>
          <a:prstGeom prst="roundRect">
            <a:avLst>
              <a:gd name="adj" fmla="val 15385"/>
            </a:avLst>
          </a:prstGeom>
          <a:solidFill>
            <a:schemeClr val="accent1"/>
          </a:solidFill>
          <a:ln w="12700">
            <a:solidFill>
              <a:schemeClr val="accent1"/>
            </a:solidFill>
            <a:prstDash val="solid"/>
          </a:ln>
        </p:spPr>
      </p:sp>
      <p:sp>
        <p:nvSpPr>
          <p:cNvPr id="19" name="Benefit text"/>
          <p:cNvSpPr txBox="1"/>
          <p:nvPr/>
        </p:nvSpPr>
        <p:spPr>
          <a:xfrm>
            <a:off x="640080" y="3840480"/>
            <a:ext cx="7863840" cy="594360"/>
          </a:xfrm>
          <a:prstGeom prst="rect">
            <a:avLst/>
          </a:prstGeom>
          <a:noFill/>
          <a:ln/>
        </p:spPr>
        <p:txBody>
          <a:bodyPr wrap="square" lIns="0" tIns="0" rIns="0" bIns="0" rtlCol="0" anchor="ctr"/>
          <a:lstStyle/>
          <a:p>
            <a:pPr marL="0" indent="0" algn="ctr">
              <a:buNone/>
            </a:pPr>
            <a:r>
              <a:rPr lang="en-US" sz="1800" b="1" dirty="0">
                <a:solidFill>
                  <a:schemeClr val="bg1"/>
                </a:solidFill>
                <a:latin typeface="Cambria" pitchFamily="34" charset="0"/>
                <a:ea typeface="Cambria" pitchFamily="34" charset="-122"/>
                <a:cs typeface="Cambria" pitchFamily="34" charset="-120"/>
              </a:rPr>
              <a:t>Her symptoms, understood. Her doctor, prepared.</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Future scope</a:t>
            </a:r>
            <a:endParaRPr lang="en-US" sz="3200" dirty="0"/>
          </a:p>
        </p:txBody>
      </p:sp>
      <p:sp>
        <p:nvSpPr>
          <p:cNvPr id="3" name="Timeline line"/>
          <p:cNvSpPr/>
          <p:nvPr/>
        </p:nvSpPr>
        <p:spPr>
          <a:xfrm>
            <a:off x="1371600" y="1874520"/>
            <a:ext cx="6400800" cy="0"/>
          </a:xfrm>
          <a:prstGeom prst="line">
            <a:avLst/>
          </a:prstGeom>
          <a:noFill/>
          <a:ln w="38100">
            <a:solidFill>
              <a:schemeClr val="accent5"/>
            </a:solidFill>
            <a:prstDash val="solid"/>
          </a:ln>
        </p:spPr>
      </p:sp>
      <p:sp>
        <p:nvSpPr>
          <p:cNvPr id="4" name="Milestone 1"/>
          <p:cNvSpPr/>
          <p:nvPr/>
        </p:nvSpPr>
        <p:spPr>
          <a:xfrm>
            <a:off x="1188720" y="1691640"/>
            <a:ext cx="365760" cy="365760"/>
          </a:xfrm>
          <a:prstGeom prst="ellipse">
            <a:avLst/>
          </a:prstGeom>
          <a:solidFill>
            <a:schemeClr val="accent1"/>
          </a:solidFill>
          <a:ln w="31750">
            <a:solidFill>
              <a:schemeClr val="accent1"/>
            </a:solidFill>
            <a:prstDash val="solid"/>
          </a:ln>
        </p:spPr>
      </p:sp>
      <p:sp>
        <p:nvSpPr>
          <p:cNvPr id="5" name="Milestone title 1"/>
          <p:cNvSpPr txBox="1"/>
          <p:nvPr/>
        </p:nvSpPr>
        <p:spPr>
          <a:xfrm>
            <a:off x="411480" y="2286000"/>
            <a:ext cx="1920240" cy="365760"/>
          </a:xfrm>
          <a:prstGeom prst="rect">
            <a:avLst/>
          </a:prstGeom>
          <a:noFill/>
          <a:ln/>
        </p:spPr>
        <p:txBody>
          <a:bodyPr wrap="square" lIns="0" tIns="0" rIns="0" bIns="0" rtlCol="0" anchor="t"/>
          <a:lstStyle/>
          <a:p>
            <a:pPr marL="0" indent="0" algn="ctr">
              <a:buNone/>
            </a:pPr>
            <a:r>
              <a:rPr lang="en-US" sz="2000" b="1" dirty="0">
                <a:solidFill>
                  <a:schemeClr val="tx2"/>
                </a:solidFill>
              </a:rPr>
              <a:t>Today</a:t>
            </a:r>
            <a:endParaRPr lang="en-US" sz="2000" dirty="0"/>
          </a:p>
        </p:txBody>
      </p:sp>
      <p:sp>
        <p:nvSpPr>
          <p:cNvPr id="6" name="Milestone text 1"/>
          <p:cNvSpPr txBox="1"/>
          <p:nvPr/>
        </p:nvSpPr>
        <p:spPr>
          <a:xfrm>
            <a:off x="411480" y="2743200"/>
            <a:ext cx="1920240" cy="1188720"/>
          </a:xfrm>
          <a:prstGeom prst="rect">
            <a:avLst/>
          </a:prstGeom>
          <a:noFill/>
          <a:ln/>
        </p:spPr>
        <p:txBody>
          <a:bodyPr wrap="square" lIns="0" tIns="0" rIns="0" bIns="0" rtlCol="0" anchor="t"/>
          <a:lstStyle/>
          <a:p>
            <a:pPr marL="0" indent="0" algn="ctr">
              <a:buNone/>
            </a:pPr>
            <a:r>
              <a:rPr lang="en-US" sz="1300" dirty="0">
                <a:solidFill>
                  <a:schemeClr val="tx1"/>
                </a:solidFill>
              </a:rPr>
              <a:t>Profile questions, cycle-aware insights, voice, Kannada, report</a:t>
            </a:r>
            <a:endParaRPr lang="en-US" sz="1300" dirty="0"/>
          </a:p>
        </p:txBody>
      </p:sp>
      <p:sp>
        <p:nvSpPr>
          <p:cNvPr id="7" name="Milestone 2"/>
          <p:cNvSpPr/>
          <p:nvPr/>
        </p:nvSpPr>
        <p:spPr>
          <a:xfrm>
            <a:off x="3322320" y="1691640"/>
            <a:ext cx="365760" cy="365760"/>
          </a:xfrm>
          <a:prstGeom prst="ellipse">
            <a:avLst/>
          </a:prstGeom>
          <a:solidFill>
            <a:schemeClr val="bg1"/>
          </a:solidFill>
          <a:ln w="31750">
            <a:solidFill>
              <a:schemeClr val="accent1"/>
            </a:solidFill>
            <a:prstDash val="solid"/>
          </a:ln>
        </p:spPr>
      </p:sp>
      <p:sp>
        <p:nvSpPr>
          <p:cNvPr id="8" name="Milestone title 2"/>
          <p:cNvSpPr txBox="1"/>
          <p:nvPr/>
        </p:nvSpPr>
        <p:spPr>
          <a:xfrm>
            <a:off x="2545080" y="2286000"/>
            <a:ext cx="1920240" cy="365760"/>
          </a:xfrm>
          <a:prstGeom prst="rect">
            <a:avLst/>
          </a:prstGeom>
          <a:noFill/>
          <a:ln/>
        </p:spPr>
        <p:txBody>
          <a:bodyPr wrap="square" lIns="0" tIns="0" rIns="0" bIns="0" rtlCol="0" anchor="t"/>
          <a:lstStyle/>
          <a:p>
            <a:pPr marL="0" indent="0" algn="ctr">
              <a:buNone/>
            </a:pPr>
            <a:r>
              <a:rPr lang="en-US" sz="2000" b="1" dirty="0">
                <a:solidFill>
                  <a:schemeClr val="tx2"/>
                </a:solidFill>
              </a:rPr>
              <a:t>Next</a:t>
            </a:r>
            <a:endParaRPr lang="en-US" sz="2000" dirty="0"/>
          </a:p>
        </p:txBody>
      </p:sp>
      <p:sp>
        <p:nvSpPr>
          <p:cNvPr id="9" name="Milestone text 2"/>
          <p:cNvSpPr txBox="1"/>
          <p:nvPr/>
        </p:nvSpPr>
        <p:spPr>
          <a:xfrm>
            <a:off x="2545080" y="2743200"/>
            <a:ext cx="1920240" cy="1188720"/>
          </a:xfrm>
          <a:prstGeom prst="rect">
            <a:avLst/>
          </a:prstGeom>
          <a:noFill/>
          <a:ln/>
        </p:spPr>
        <p:txBody>
          <a:bodyPr wrap="square" lIns="0" tIns="0" rIns="0" bIns="0" rtlCol="0" anchor="t"/>
          <a:lstStyle/>
          <a:p>
            <a:pPr marL="0" indent="0" algn="ctr">
              <a:buNone/>
            </a:pPr>
            <a:r>
              <a:rPr lang="en-US" sz="1300" dirty="0">
                <a:solidFill>
                  <a:schemeClr val="tx1"/>
                </a:solidFill>
              </a:rPr>
              <a:t>Lab report explainer, offline app, specialist finder</a:t>
            </a:r>
            <a:endParaRPr lang="en-US" sz="1300" dirty="0"/>
          </a:p>
        </p:txBody>
      </p:sp>
      <p:sp>
        <p:nvSpPr>
          <p:cNvPr id="10" name="Milestone 3"/>
          <p:cNvSpPr/>
          <p:nvPr/>
        </p:nvSpPr>
        <p:spPr>
          <a:xfrm>
            <a:off x="5455920" y="1691640"/>
            <a:ext cx="365760" cy="365760"/>
          </a:xfrm>
          <a:prstGeom prst="ellipse">
            <a:avLst/>
          </a:prstGeom>
          <a:solidFill>
            <a:schemeClr val="bg1"/>
          </a:solidFill>
          <a:ln w="31750">
            <a:solidFill>
              <a:schemeClr val="accent1"/>
            </a:solidFill>
            <a:prstDash val="solid"/>
          </a:ln>
        </p:spPr>
      </p:sp>
      <p:sp>
        <p:nvSpPr>
          <p:cNvPr id="11" name="Milestone title 3"/>
          <p:cNvSpPr txBox="1"/>
          <p:nvPr/>
        </p:nvSpPr>
        <p:spPr>
          <a:xfrm>
            <a:off x="4678680" y="2286000"/>
            <a:ext cx="1920240" cy="365760"/>
          </a:xfrm>
          <a:prstGeom prst="rect">
            <a:avLst/>
          </a:prstGeom>
          <a:noFill/>
          <a:ln/>
        </p:spPr>
        <p:txBody>
          <a:bodyPr wrap="square" lIns="0" tIns="0" rIns="0" bIns="0" rtlCol="0" anchor="t"/>
          <a:lstStyle/>
          <a:p>
            <a:pPr marL="0" indent="0" algn="ctr">
              <a:buNone/>
            </a:pPr>
            <a:r>
              <a:rPr lang="en-US" sz="2000" b="1" dirty="0">
                <a:solidFill>
                  <a:schemeClr val="tx2"/>
                </a:solidFill>
              </a:rPr>
              <a:t>Then</a:t>
            </a:r>
            <a:endParaRPr lang="en-US" sz="2000" dirty="0"/>
          </a:p>
        </p:txBody>
      </p:sp>
      <p:sp>
        <p:nvSpPr>
          <p:cNvPr id="12" name="Milestone text 3"/>
          <p:cNvSpPr txBox="1"/>
          <p:nvPr/>
        </p:nvSpPr>
        <p:spPr>
          <a:xfrm>
            <a:off x="4678680" y="2743200"/>
            <a:ext cx="1920240" cy="1188720"/>
          </a:xfrm>
          <a:prstGeom prst="rect">
            <a:avLst/>
          </a:prstGeom>
          <a:noFill/>
          <a:ln/>
        </p:spPr>
        <p:txBody>
          <a:bodyPr wrap="square" lIns="0" tIns="0" rIns="0" bIns="0" rtlCol="0" anchor="t"/>
          <a:lstStyle/>
          <a:p>
            <a:pPr marL="0" indent="0" algn="ctr">
              <a:buNone/>
            </a:pPr>
            <a:r>
              <a:rPr lang="en-US" sz="1300" dirty="0">
                <a:solidFill>
                  <a:schemeClr val="tx1"/>
                </a:solidFill>
              </a:rPr>
              <a:t>Health-worker mode for community screening, more conditions</a:t>
            </a:r>
            <a:endParaRPr lang="en-US" sz="1300" dirty="0"/>
          </a:p>
        </p:txBody>
      </p:sp>
      <p:sp>
        <p:nvSpPr>
          <p:cNvPr id="13" name="Milestone 4"/>
          <p:cNvSpPr/>
          <p:nvPr/>
        </p:nvSpPr>
        <p:spPr>
          <a:xfrm>
            <a:off x="7589520" y="1691640"/>
            <a:ext cx="365760" cy="365760"/>
          </a:xfrm>
          <a:prstGeom prst="ellipse">
            <a:avLst/>
          </a:prstGeom>
          <a:solidFill>
            <a:schemeClr val="bg1"/>
          </a:solidFill>
          <a:ln w="31750">
            <a:solidFill>
              <a:schemeClr val="accent1"/>
            </a:solidFill>
            <a:prstDash val="solid"/>
          </a:ln>
        </p:spPr>
      </p:sp>
      <p:sp>
        <p:nvSpPr>
          <p:cNvPr id="14" name="Milestone title 4"/>
          <p:cNvSpPr txBox="1"/>
          <p:nvPr/>
        </p:nvSpPr>
        <p:spPr>
          <a:xfrm>
            <a:off x="6812280" y="2286000"/>
            <a:ext cx="1920240" cy="365760"/>
          </a:xfrm>
          <a:prstGeom prst="rect">
            <a:avLst/>
          </a:prstGeom>
          <a:noFill/>
          <a:ln/>
        </p:spPr>
        <p:txBody>
          <a:bodyPr wrap="square" lIns="0" tIns="0" rIns="0" bIns="0" rtlCol="0" anchor="t"/>
          <a:lstStyle/>
          <a:p>
            <a:pPr marL="0" indent="0" algn="ctr">
              <a:buNone/>
            </a:pPr>
            <a:r>
              <a:rPr lang="en-US" sz="2000" b="1" dirty="0">
                <a:solidFill>
                  <a:schemeClr val="tx2"/>
                </a:solidFill>
              </a:rPr>
              <a:t>Later</a:t>
            </a:r>
            <a:endParaRPr lang="en-US" sz="2000" dirty="0"/>
          </a:p>
        </p:txBody>
      </p:sp>
      <p:sp>
        <p:nvSpPr>
          <p:cNvPr id="15" name="Milestone text 4"/>
          <p:cNvSpPr txBox="1"/>
          <p:nvPr/>
        </p:nvSpPr>
        <p:spPr>
          <a:xfrm>
            <a:off x="6812280" y="2743200"/>
            <a:ext cx="1920240" cy="1188720"/>
          </a:xfrm>
          <a:prstGeom prst="rect">
            <a:avLst/>
          </a:prstGeom>
          <a:noFill/>
          <a:ln/>
        </p:spPr>
        <p:txBody>
          <a:bodyPr wrap="square" lIns="0" tIns="0" rIns="0" bIns="0" rtlCol="0" anchor="t"/>
          <a:lstStyle/>
          <a:p>
            <a:pPr marL="0" indent="0" algn="ctr">
              <a:buNone/>
            </a:pPr>
            <a:r>
              <a:rPr lang="en-US" sz="1300" dirty="0">
                <a:solidFill>
                  <a:schemeClr val="tx1"/>
                </a:solidFill>
              </a:rPr>
              <a:t>Clinician-validated rules, secure sync</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References</a:t>
            </a:r>
            <a:endParaRPr lang="en-US" sz="3200" dirty="0"/>
          </a:p>
        </p:txBody>
      </p:sp>
      <p:sp>
        <p:nvSpPr>
          <p:cNvPr id="3" name="Reference list"/>
          <p:cNvSpPr txBox="1"/>
          <p:nvPr/>
        </p:nvSpPr>
        <p:spPr>
          <a:xfrm>
            <a:off x="457200" y="1097280"/>
            <a:ext cx="822960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chemeClr val="tx1"/>
                </a:solidFill>
              </a:rPr>
              <a:t>WHO. Polycystic ovary syndrome (fact sheet). who.int/news-room/fact-sheets/detail/polycystic-ovary-syndrome</a:t>
            </a:r>
            <a:endParaRPr lang="en-US" sz="1300" dirty="0"/>
          </a:p>
          <a:p>
            <a:pPr marL="342900" indent="-342900">
              <a:spcAft>
                <a:spcPts val="500"/>
              </a:spcAft>
              <a:buSzPct val="100000"/>
              <a:buFont typeface="+mj-lt"/>
              <a:buAutoNum type="arabicPeriod"/>
            </a:pPr>
            <a:r>
              <a:rPr lang="en-US" sz="1300" dirty="0">
                <a:solidFill>
                  <a:schemeClr val="tx1"/>
                </a:solidFill>
              </a:rPr>
              <a:t>WHO. Endometriosis (fact sheet). who.int/news-room/fact-sheets/detail/endometriosis</a:t>
            </a:r>
            <a:endParaRPr lang="en-US" sz="1300" dirty="0"/>
          </a:p>
          <a:p>
            <a:pPr marL="342900" indent="-342900">
              <a:spcAft>
                <a:spcPts val="500"/>
              </a:spcAft>
              <a:buSzPct val="100000"/>
              <a:buFont typeface="+mj-lt"/>
              <a:buAutoNum type="arabicPeriod"/>
            </a:pPr>
            <a:r>
              <a:rPr lang="en-US" sz="1300" dirty="0">
                <a:solidFill>
                  <a:schemeClr val="tx1"/>
                </a:solidFill>
              </a:rPr>
              <a:t>NFHS-5 (2019–21), via Press Information Bureau, Govt. of India. pib.gov.in (PRID 1795421)</a:t>
            </a:r>
            <a:endParaRPr lang="en-US" sz="1300" dirty="0"/>
          </a:p>
          <a:p>
            <a:pPr marL="342900" indent="-342900">
              <a:spcAft>
                <a:spcPts val="500"/>
              </a:spcAft>
              <a:buSzPct val="100000"/>
              <a:buFont typeface="+mj-lt"/>
              <a:buAutoNum type="arabicPeriod"/>
            </a:pPr>
            <a:r>
              <a:rPr lang="en-US" sz="1300" dirty="0">
                <a:solidFill>
                  <a:schemeClr val="tx1"/>
                </a:solidFill>
              </a:rPr>
              <a:t>Teede HJ et al. International evidence-based guideline for PCOS, 2023</a:t>
            </a:r>
            <a:endParaRPr lang="en-US" sz="1300" dirty="0"/>
          </a:p>
          <a:p>
            <a:pPr marL="342900" indent="-342900">
              <a:spcAft>
                <a:spcPts val="500"/>
              </a:spcAft>
              <a:buSzPct val="100000"/>
              <a:buFont typeface="+mj-lt"/>
              <a:buAutoNum type="arabicPeriod"/>
            </a:pPr>
            <a:r>
              <a:rPr lang="en-US" sz="1300" dirty="0">
                <a:solidFill>
                  <a:schemeClr val="tx1"/>
                </a:solidFill>
              </a:rPr>
              <a:t>Rotterdam ESHRE/ASRM-sponsored PCOS Consensus Workshop Group. Fertil Steril, 2004</a:t>
            </a:r>
            <a:endParaRPr lang="en-US" sz="1300" dirty="0"/>
          </a:p>
          <a:p>
            <a:pPr marL="342900" indent="-342900">
              <a:spcAft>
                <a:spcPts val="500"/>
              </a:spcAft>
              <a:buSzPct val="100000"/>
              <a:buFont typeface="+mj-lt"/>
              <a:buAutoNum type="arabicPeriod"/>
            </a:pPr>
            <a:r>
              <a:rPr lang="en-US" sz="1300" dirty="0">
                <a:solidFill>
                  <a:schemeClr val="tx1"/>
                </a:solidFill>
              </a:rPr>
              <a:t>NICE NG88. Heavy menstrual bleeding: assessment and management, 2018</a:t>
            </a:r>
            <a:endParaRPr lang="en-US" sz="1300" dirty="0"/>
          </a:p>
          <a:p>
            <a:pPr marL="342900" indent="-342900">
              <a:spcAft>
                <a:spcPts val="500"/>
              </a:spcAft>
              <a:buSzPct val="100000"/>
              <a:buFont typeface="+mj-lt"/>
              <a:buAutoNum type="arabicPeriod"/>
            </a:pPr>
            <a:r>
              <a:rPr lang="en-US" sz="1300" dirty="0">
                <a:solidFill>
                  <a:schemeClr val="tx1"/>
                </a:solidFill>
              </a:rPr>
              <a:t>ESHRE guideline: Endometriosis, 2022</a:t>
            </a:r>
            <a:endParaRPr lang="en-US" sz="1300" dirty="0"/>
          </a:p>
          <a:p>
            <a:pPr marL="342900" indent="-342900">
              <a:spcAft>
                <a:spcPts val="500"/>
              </a:spcAft>
              <a:buSzPct val="100000"/>
              <a:buFont typeface="+mj-lt"/>
              <a:buAutoNum type="arabicPeriod"/>
            </a:pPr>
            <a:r>
              <a:rPr lang="en-US" sz="1300" dirty="0">
                <a:solidFill>
                  <a:schemeClr val="tx1"/>
                </a:solidFill>
              </a:rPr>
              <a:t>ACOG Committee Opinion 651. Menstruation in girls and adolescents, 2015</a:t>
            </a:r>
            <a:endParaRPr lang="en-US" sz="1300" dirty="0"/>
          </a:p>
          <a:p>
            <a:pPr marL="342900" indent="-342900">
              <a:spcAft>
                <a:spcPts val="500"/>
              </a:spcAft>
              <a:buSzPct val="100000"/>
              <a:buFont typeface="+mj-lt"/>
              <a:buAutoNum type="arabicPeriod"/>
            </a:pPr>
            <a:r>
              <a:rPr lang="en-US" sz="1300" dirty="0">
                <a:solidFill>
                  <a:schemeClr val="tx1"/>
                </a:solidFill>
              </a:rPr>
              <a:t>Harlow SD et al. STRAW+10: staging reproductive aging, 2012</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868680"/>
            <a:ext cx="5394960" cy="1371600"/>
          </a:xfrm>
          <a:prstGeom prst="rect">
            <a:avLst/>
          </a:prstGeom>
          <a:noFill/>
          <a:ln/>
        </p:spPr>
        <p:txBody>
          <a:bodyPr wrap="square" lIns="0" tIns="0" rIns="0" bIns="0" rtlCol="0" anchor="ctr"/>
          <a:lstStyle/>
          <a:p>
            <a:pPr marL="0" indent="0" algn="l">
              <a:buNone/>
            </a:pPr>
            <a:r>
              <a:rPr lang="en-US" sz="4000" b="1" dirty="0">
                <a:solidFill>
                  <a:schemeClr val="bg1"/>
                </a:solidFill>
              </a:rPr>
              <a:t>Her symptoms, understood.</a:t>
            </a:r>
            <a:endParaRPr lang="en-US" sz="4000" dirty="0"/>
          </a:p>
        </p:txBody>
      </p:sp>
      <p:sp>
        <p:nvSpPr>
          <p:cNvPr id="3" name="Closing line"/>
          <p:cNvSpPr txBox="1"/>
          <p:nvPr/>
        </p:nvSpPr>
        <p:spPr>
          <a:xfrm>
            <a:off x="548640" y="2423160"/>
            <a:ext cx="5394960" cy="548640"/>
          </a:xfrm>
          <a:prstGeom prst="rect">
            <a:avLst/>
          </a:prstGeom>
          <a:noFill/>
          <a:ln/>
        </p:spPr>
        <p:txBody>
          <a:bodyPr wrap="square" lIns="0" tIns="0" rIns="0" bIns="0" rtlCol="0" anchor="t"/>
          <a:lstStyle/>
          <a:p>
            <a:pPr marL="0" indent="0">
              <a:buNone/>
            </a:pPr>
            <a:r>
              <a:rPr lang="en-US" sz="2400" i="1" dirty="0">
                <a:solidFill>
                  <a:schemeClr val="accent2"/>
                </a:solidFill>
                <a:latin typeface="Cambria" pitchFamily="34" charset="0"/>
                <a:ea typeface="Cambria" pitchFamily="34" charset="-122"/>
                <a:cs typeface="Cambria" pitchFamily="34" charset="-120"/>
              </a:rPr>
              <a:t>Her doctor, prepared.</a:t>
            </a:r>
            <a:endParaRPr lang="en-US" sz="2400" dirty="0"/>
          </a:p>
        </p:txBody>
      </p:sp>
      <p:sp>
        <p:nvSpPr>
          <p:cNvPr id="4" name="Links and team"/>
          <p:cNvSpPr txBox="1"/>
          <p:nvPr/>
        </p:nvSpPr>
        <p:spPr>
          <a:xfrm>
            <a:off x="548640" y="3200400"/>
            <a:ext cx="5669280" cy="1097280"/>
          </a:xfrm>
          <a:prstGeom prst="rect">
            <a:avLst/>
          </a:prstGeom>
          <a:noFill/>
          <a:ln/>
        </p:spPr>
        <p:txBody>
          <a:bodyPr wrap="square" lIns="0" tIns="0" rIns="0" bIns="0" rtlCol="0" anchor="t"/>
          <a:lstStyle/>
          <a:p>
            <a:pPr>
              <a:spcAft>
                <a:spcPts val="600"/>
              </a:spcAft>
            </a:pPr>
            <a:r>
              <a:rPr lang="en-US" sz="1500" dirty="0">
                <a:solidFill>
                  <a:schemeClr val="bg1"/>
                </a:solidFill>
              </a:rPr>
              <a:t>Code:  https://github.com/chai0405-hub/recHERsion---Women-s-Healthcare</a:t>
            </a:r>
            <a:endParaRPr lang="en-US" sz="1500" dirty="0"/>
          </a:p>
          <a:p>
            <a:pPr>
              <a:spcAft>
                <a:spcPts val="600"/>
              </a:spcAft>
            </a:pPr>
            <a:r>
              <a:rPr lang="en-US" sz="1500" dirty="0">
                <a:solidFill>
                  <a:schemeClr val="bg1"/>
                </a:solidFill>
              </a:rPr>
              <a:t>Live demo: https://rechersion-womens-healthcare-0405.streamlit.app/</a:t>
            </a:r>
            <a:endParaRPr lang="en-US" sz="1500" dirty="0"/>
          </a:p>
          <a:p>
            <a:pPr marL="0" indent="0">
              <a:buNone/>
            </a:pPr>
            <a:r>
              <a:rPr lang="en-US" sz="1500" dirty="0">
                <a:solidFill>
                  <a:schemeClr val="bg1"/>
                </a:solidFill>
              </a:rPr>
              <a:t>Team:  Chaitanya Pawar (Team Leader), Anusha </a:t>
            </a:r>
            <a:r>
              <a:rPr lang="en-US" sz="1500" dirty="0" err="1">
                <a:solidFill>
                  <a:schemeClr val="bg1"/>
                </a:solidFill>
              </a:rPr>
              <a:t>Jidage</a:t>
            </a:r>
            <a:endParaRPr lang="en-US" sz="1500" dirty="0"/>
          </a:p>
        </p:txBody>
      </p:sp>
      <p:sp>
        <p:nvSpPr>
          <p:cNvPr id="6" name="App screenshot: doctor report frame"/>
          <p:cNvSpPr/>
          <p:nvPr/>
        </p:nvSpPr>
        <p:spPr>
          <a:xfrm>
            <a:off x="6665976" y="630936"/>
            <a:ext cx="1842104" cy="3858768"/>
          </a:xfrm>
          <a:prstGeom prst="roundRect">
            <a:avLst>
              <a:gd name="adj" fmla="val 4964"/>
            </a:avLst>
          </a:prstGeom>
          <a:solidFill>
            <a:schemeClr val="bg1"/>
          </a:solidFill>
          <a:ln w="19050">
            <a:solidFill>
              <a:schemeClr val="accent5"/>
            </a:solidFill>
            <a:prstDash val="solid"/>
          </a:ln>
        </p:spPr>
      </p:sp>
      <p:pic>
        <p:nvPicPr>
          <p:cNvPr id="7" name="App screenshot: doctor report" descr="App screenshot: doctor report"/>
          <p:cNvPicPr>
            <a:picLocks noChangeAspect="1"/>
          </p:cNvPicPr>
          <p:nvPr/>
        </p:nvPicPr>
        <p:blipFill>
          <a:blip r:embed="rId3"/>
          <a:stretch>
            <a:fillRect/>
          </a:stretch>
        </p:blipFill>
        <p:spPr>
          <a:xfrm>
            <a:off x="6720840" y="685800"/>
            <a:ext cx="1732376" cy="3749040"/>
          </a:xfrm>
          <a:prstGeom prst="rect">
            <a:avLst/>
          </a:prstGeom>
        </p:spPr>
      </p:pic>
    </p:spTree>
  </p:cSld>
  <p:clrMapOvr>
    <a:masterClrMapping/>
  </p:clrMapOvr>
</p:sld>
</file>

<file path=ppt/theme/theme1.xml><?xml version="1.0" encoding="utf-8"?>
<a:theme xmlns:a="http://schemas.openxmlformats.org/drawingml/2006/main" name="Sakhi Pink">
  <a:themeElements>
    <a:clrScheme name="Sakhi Pink">
      <a:dk1>
        <a:srgbClr val="3B1D2E"/>
      </a:dk1>
      <a:lt1>
        <a:srgbClr val="FFFFFF"/>
      </a:lt1>
      <a:dk2>
        <a:srgbClr val="BE185D"/>
      </a:dk2>
      <a:lt2>
        <a:srgbClr val="FDF2F8"/>
      </a:lt2>
      <a:accent1>
        <a:srgbClr val="DB2777"/>
      </a:accent1>
      <a:accent2>
        <a:srgbClr val="F9A8D4"/>
      </a:accent2>
      <a:accent3>
        <a:srgbClr val="BE185D"/>
      </a:accent3>
      <a:accent4>
        <a:srgbClr val="9D174D"/>
      </a:accent4>
      <a:accent5>
        <a:srgbClr val="FBCFE8"/>
      </a:accent5>
      <a:accent6>
        <a:srgbClr val="7A5A6B"/>
      </a:accent6>
      <a:hlink>
        <a:srgbClr val="DB2777"/>
      </a:hlink>
      <a:folHlink>
        <a:srgbClr val="9D174D"/>
      </a:folHlink>
    </a:clrScheme>
    <a:fontScheme name="Sakhi P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2117</Words>
  <Application>Microsoft Office PowerPoint</Application>
  <PresentationFormat>On-screen Show (16:9)</PresentationFormat>
  <Paragraphs>185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Sakhi Pink</vt:lpstr>
      <vt:lpstr>Sakhi Health · ಸಖಿ</vt:lpstr>
      <vt:lpstr>The problem: answers come too late</vt:lpstr>
      <vt:lpstr>Proposed idea: Sakhi Health</vt:lpstr>
      <vt:lpstr>What makes the idea different</vt:lpstr>
      <vt:lpstr>A working product, end to end</vt:lpstr>
      <vt:lpstr>Technical approach: cycle- and age-aware</vt:lpstr>
      <vt:lpstr>Insights you can verify</vt:lpstr>
      <vt:lpstr>System architecture</vt:lpstr>
      <vt:lpstr>Feasibility</vt:lpstr>
      <vt:lpstr>Impact and benefits</vt:lpstr>
      <vt:lpstr>Future scope</vt:lpstr>
      <vt:lpstr>References</vt:lpstr>
      <vt:lpstr>Her symptoms, understood.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Sakhi Health - recHERsion 2026</dc:title>
  <dc:subject>PptxGenJS Presentation</dc:subject>
  <dc:creator>Chaitanya Pawar</dc:creator>
  <cp:lastModifiedBy>Chandrashekhar Pawar</cp:lastModifiedBy>
  <cp:revision>6</cp:revision>
  <dcterms:created xsi:type="dcterms:W3CDTF">2026-10-24T07:37:57Z</dcterms:created>
  <dcterms:modified xsi:type="dcterms:W3CDTF">2026-10-24T07:49:46Z</dcterms:modified>
</cp:coreProperties>
</file>